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7" r:id="rId4"/>
    <p:sldMasterId id="214748367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y="5143500" cx="9144000"/>
  <p:notesSz cx="6858000" cy="9144000"/>
  <p:embeddedFontLst>
    <p:embeddedFont>
      <p:font typeface="Raleway"/>
      <p:regular r:id="rId47"/>
      <p:bold r:id="rId48"/>
      <p:italic r:id="rId49"/>
      <p:boldItalic r:id="rId50"/>
    </p:embeddedFont>
    <p:embeddedFont>
      <p:font typeface="Spinnaker"/>
      <p:regular r:id="rId51"/>
    </p:embeddedFont>
    <p:embeddedFont>
      <p:font typeface="Anaheim"/>
      <p:regular r:id="rId52"/>
      <p:bold r:id="rId53"/>
    </p:embeddedFont>
    <p:embeddedFont>
      <p:font typeface="Montserrat"/>
      <p:regular r:id="rId54"/>
      <p:bold r:id="rId55"/>
      <p:italic r:id="rId56"/>
      <p:boldItalic r:id="rId57"/>
    </p:embeddedFont>
    <p:embeddedFont>
      <p:font typeface="Montserrat Medium"/>
      <p:regular r:id="rId58"/>
      <p:bold r:id="rId59"/>
      <p:italic r:id="rId60"/>
      <p:boldItalic r:id="rId61"/>
    </p:embeddedFont>
    <p:embeddedFont>
      <p:font typeface="Bebas Neue"/>
      <p:regular r:id="rId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Raleway-bold.fntdata"/><Relationship Id="rId47" Type="http://schemas.openxmlformats.org/officeDocument/2006/relationships/font" Target="fonts/Raleway-regular.fntdata"/><Relationship Id="rId49" Type="http://schemas.openxmlformats.org/officeDocument/2006/relationships/font" Target="fonts/Raleway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BebasNeue-regular.fntdata"/><Relationship Id="rId61" Type="http://schemas.openxmlformats.org/officeDocument/2006/relationships/font" Target="fonts/MontserratMedium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MontserratMedium-italic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Spinnaker-regular.fntdata"/><Relationship Id="rId50" Type="http://schemas.openxmlformats.org/officeDocument/2006/relationships/font" Target="fonts/Raleway-boldItalic.fntdata"/><Relationship Id="rId53" Type="http://schemas.openxmlformats.org/officeDocument/2006/relationships/font" Target="fonts/Anaheim-bold.fntdata"/><Relationship Id="rId52" Type="http://schemas.openxmlformats.org/officeDocument/2006/relationships/font" Target="fonts/Anaheim-regular.fntdata"/><Relationship Id="rId11" Type="http://schemas.openxmlformats.org/officeDocument/2006/relationships/slide" Target="slides/slide5.xml"/><Relationship Id="rId55" Type="http://schemas.openxmlformats.org/officeDocument/2006/relationships/font" Target="fonts/Montserrat-bold.fntdata"/><Relationship Id="rId10" Type="http://schemas.openxmlformats.org/officeDocument/2006/relationships/slide" Target="slides/slide4.xml"/><Relationship Id="rId54" Type="http://schemas.openxmlformats.org/officeDocument/2006/relationships/font" Target="fonts/Montserrat-regular.fntdata"/><Relationship Id="rId13" Type="http://schemas.openxmlformats.org/officeDocument/2006/relationships/slide" Target="slides/slide7.xml"/><Relationship Id="rId57" Type="http://schemas.openxmlformats.org/officeDocument/2006/relationships/font" Target="fonts/Montserrat-boldItalic.fntdata"/><Relationship Id="rId12" Type="http://schemas.openxmlformats.org/officeDocument/2006/relationships/slide" Target="slides/slide6.xml"/><Relationship Id="rId56" Type="http://schemas.openxmlformats.org/officeDocument/2006/relationships/font" Target="fonts/Montserrat-italic.fntdata"/><Relationship Id="rId15" Type="http://schemas.openxmlformats.org/officeDocument/2006/relationships/slide" Target="slides/slide9.xml"/><Relationship Id="rId59" Type="http://schemas.openxmlformats.org/officeDocument/2006/relationships/font" Target="fonts/MontserratMedium-bold.fntdata"/><Relationship Id="rId14" Type="http://schemas.openxmlformats.org/officeDocument/2006/relationships/slide" Target="slides/slide8.xml"/><Relationship Id="rId58" Type="http://schemas.openxmlformats.org/officeDocument/2006/relationships/font" Target="fonts/MontserratMedium-regular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86a606070d_3_9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g386a606070d_3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86a606070d_3_10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g386a606070d_3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86a606070d_3_1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386a606070d_3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7b2203f7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c7b2203f7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c7d443bcf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c7d443bcf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c7d443bcf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c7d443bcf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86a606070d_3_1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g386a606070d_3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c7b2203f75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c7b2203f75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c7b2203f75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c7b2203f75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Avg Precision zu Precision ändern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86a606070d_3_1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g386a606070d_3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86a606070d_1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g386a606070d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86a606070d_1_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g386a606070d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86a606070d_1_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g386a606070d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86a606070d_1_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g386a606070d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86a606070d_1_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g386a606070d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86a606070d_1_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g386a606070d_1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86a606070d_1_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g386a606070d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de"/>
              <a:t>bei Vorgehen grafik einfügen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86a606070d_1_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g386a606070d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de"/>
              <a:t>bei Vorgehen grafik einfügen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86a606070d_1_7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g386a606070d_1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de"/>
              <a:t>bei Vorgehen grafik einfügen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86a606070d_1_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g386a606070d_1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de"/>
              <a:t>bei Vorgehen grafik einfügen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86a606070d_1_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g386a606070d_1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de"/>
              <a:t>bei Vorgehen grafik einfügen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86a606070d_3_1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g386a606070d_3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c7b2203f75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g3c7b2203f7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c7b2203f7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g3c7b2203f7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c7b2203f75_0_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g3c7b2203f7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c7b2203f75_0_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g3c7b2203f75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c7b2203f75_0_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g3c7b2203f75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c7dcc2d826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g3c7dcc2d82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c7e3608b76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g3c7e3608b7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86a606070d_3_1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g386a606070d_3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86a606070d_3_1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g386a606070d_3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86a606070d_3_1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g386a606070d_3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86a606070d_3_1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g386a606070d_3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86a606070d_3_16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g386a606070d_3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86a606070d_3_17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" name="Google Shape;396;g386a606070d_3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86a606070d_4_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g386a606070d_4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86a606070d_3_1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0" name="Google Shape;410;g386a606070d_3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c7cbf32fb3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g3c7cbf32fb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c7cbf32fb3_0_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" name="Google Shape;424;g3c7cbf32fb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86a606070d_3_18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0" name="Google Shape;430;g386a606070d_3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2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636800" y="80700"/>
            <a:ext cx="4426500" cy="498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" name="Google Shape;39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9"/>
          <p:cNvSpPr txBox="1"/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743001"/>
            <a:ext cx="8520600" cy="200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2845182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14"/>
          <p:cNvPicPr preferRelativeResize="0"/>
          <p:nvPr/>
        </p:nvPicPr>
        <p:blipFill rotWithShape="1">
          <a:blip r:embed="rId2">
            <a:alphaModFix amt="30000"/>
          </a:blip>
          <a:srcRect b="7833" l="0" r="0" t="7834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4"/>
          <p:cNvSpPr txBox="1"/>
          <p:nvPr>
            <p:ph type="ctrTitle"/>
          </p:nvPr>
        </p:nvSpPr>
        <p:spPr>
          <a:xfrm>
            <a:off x="1416450" y="1354000"/>
            <a:ext cx="6311100" cy="202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b="1" sz="4500">
                <a:latin typeface="Spinnaker"/>
                <a:ea typeface="Spinnaker"/>
                <a:cs typeface="Spinnaker"/>
                <a:sym typeface="Spinnak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1416450" y="3380027"/>
            <a:ext cx="63111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3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1" name="Google Shape;61;p14"/>
          <p:cNvSpPr/>
          <p:nvPr/>
        </p:nvSpPr>
        <p:spPr>
          <a:xfrm rot="-10406355">
            <a:off x="-802242" y="3922562"/>
            <a:ext cx="5404339" cy="3116737"/>
          </a:xfrm>
          <a:custGeom>
            <a:rect b="b" l="l" r="r" t="t"/>
            <a:pathLst>
              <a:path extrusionOk="0" h="36246" w="62848">
                <a:moveTo>
                  <a:pt x="29418" y="1"/>
                </a:moveTo>
                <a:cubicBezTo>
                  <a:pt x="23186" y="1"/>
                  <a:pt x="16953" y="1205"/>
                  <a:pt x="11200" y="3601"/>
                </a:cubicBezTo>
                <a:cubicBezTo>
                  <a:pt x="6980" y="5358"/>
                  <a:pt x="3402" y="8170"/>
                  <a:pt x="1597" y="12511"/>
                </a:cubicBezTo>
                <a:cubicBezTo>
                  <a:pt x="1" y="16347"/>
                  <a:pt x="3947" y="19935"/>
                  <a:pt x="7422" y="20828"/>
                </a:cubicBezTo>
                <a:cubicBezTo>
                  <a:pt x="8580" y="21127"/>
                  <a:pt x="9759" y="21241"/>
                  <a:pt x="10948" y="21241"/>
                </a:cubicBezTo>
                <a:cubicBezTo>
                  <a:pt x="13167" y="21241"/>
                  <a:pt x="15419" y="20844"/>
                  <a:pt x="17627" y="20511"/>
                </a:cubicBezTo>
                <a:cubicBezTo>
                  <a:pt x="19203" y="20273"/>
                  <a:pt x="20828" y="20074"/>
                  <a:pt x="22428" y="20074"/>
                </a:cubicBezTo>
                <a:cubicBezTo>
                  <a:pt x="24271" y="20074"/>
                  <a:pt x="26081" y="20337"/>
                  <a:pt x="27745" y="21110"/>
                </a:cubicBezTo>
                <a:cubicBezTo>
                  <a:pt x="33061" y="23566"/>
                  <a:pt x="35052" y="30190"/>
                  <a:pt x="39701" y="33752"/>
                </a:cubicBezTo>
                <a:cubicBezTo>
                  <a:pt x="41910" y="35444"/>
                  <a:pt x="44648" y="36246"/>
                  <a:pt x="47416" y="36246"/>
                </a:cubicBezTo>
                <a:cubicBezTo>
                  <a:pt x="51200" y="36246"/>
                  <a:pt x="55039" y="34748"/>
                  <a:pt x="57652" y="31981"/>
                </a:cubicBezTo>
                <a:cubicBezTo>
                  <a:pt x="62178" y="27191"/>
                  <a:pt x="62847" y="19386"/>
                  <a:pt x="59684" y="13605"/>
                </a:cubicBezTo>
                <a:cubicBezTo>
                  <a:pt x="56782" y="8300"/>
                  <a:pt x="51273" y="4893"/>
                  <a:pt x="45592" y="2824"/>
                </a:cubicBezTo>
                <a:cubicBezTo>
                  <a:pt x="40422" y="939"/>
                  <a:pt x="34920" y="1"/>
                  <a:pt x="29418" y="1"/>
                </a:cubicBezTo>
                <a:close/>
              </a:path>
            </a:pathLst>
          </a:custGeom>
          <a:solidFill>
            <a:srgbClr val="69B6DB">
              <a:alpha val="564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4"/>
          <p:cNvSpPr/>
          <p:nvPr/>
        </p:nvSpPr>
        <p:spPr>
          <a:xfrm rot="-750860">
            <a:off x="7387158" y="-1172571"/>
            <a:ext cx="3268103" cy="4867694"/>
          </a:xfrm>
          <a:custGeom>
            <a:rect b="b" l="l" r="r" t="t"/>
            <a:pathLst>
              <a:path extrusionOk="0" h="81010" w="54389">
                <a:moveTo>
                  <a:pt x="21615" y="0"/>
                </a:moveTo>
                <a:cubicBezTo>
                  <a:pt x="15999" y="0"/>
                  <a:pt x="10382" y="2015"/>
                  <a:pt x="6504" y="6040"/>
                </a:cubicBezTo>
                <a:cubicBezTo>
                  <a:pt x="1376" y="11362"/>
                  <a:pt x="1" y="20245"/>
                  <a:pt x="4057" y="26421"/>
                </a:cubicBezTo>
                <a:cubicBezTo>
                  <a:pt x="6300" y="29832"/>
                  <a:pt x="9838" y="32158"/>
                  <a:pt x="13436" y="34079"/>
                </a:cubicBezTo>
                <a:cubicBezTo>
                  <a:pt x="17034" y="35997"/>
                  <a:pt x="20823" y="37630"/>
                  <a:pt x="24070" y="40101"/>
                </a:cubicBezTo>
                <a:cubicBezTo>
                  <a:pt x="27313" y="42574"/>
                  <a:pt x="30035" y="46085"/>
                  <a:pt x="30440" y="50145"/>
                </a:cubicBezTo>
                <a:cubicBezTo>
                  <a:pt x="31079" y="56552"/>
                  <a:pt x="25954" y="62282"/>
                  <a:pt x="25774" y="68722"/>
                </a:cubicBezTo>
                <a:lnTo>
                  <a:pt x="25774" y="68719"/>
                </a:lnTo>
                <a:lnTo>
                  <a:pt x="25774" y="68719"/>
                </a:lnTo>
                <a:cubicBezTo>
                  <a:pt x="25673" y="72213"/>
                  <a:pt x="27287" y="75617"/>
                  <a:pt x="29797" y="78004"/>
                </a:cubicBezTo>
                <a:cubicBezTo>
                  <a:pt x="32020" y="80119"/>
                  <a:pt x="34165" y="81010"/>
                  <a:pt x="36193" y="81010"/>
                </a:cubicBezTo>
                <a:cubicBezTo>
                  <a:pt x="44325" y="81010"/>
                  <a:pt x="50560" y="66685"/>
                  <a:pt x="52307" y="59631"/>
                </a:cubicBezTo>
                <a:cubicBezTo>
                  <a:pt x="54389" y="51220"/>
                  <a:pt x="54131" y="42350"/>
                  <a:pt x="52528" y="33831"/>
                </a:cubicBezTo>
                <a:cubicBezTo>
                  <a:pt x="51159" y="26571"/>
                  <a:pt x="48772" y="19392"/>
                  <a:pt x="44558" y="13320"/>
                </a:cubicBezTo>
                <a:cubicBezTo>
                  <a:pt x="40347" y="7252"/>
                  <a:pt x="34172" y="2348"/>
                  <a:pt x="26985" y="628"/>
                </a:cubicBezTo>
                <a:cubicBezTo>
                  <a:pt x="25234" y="209"/>
                  <a:pt x="23425" y="0"/>
                  <a:pt x="21615" y="0"/>
                </a:cubicBezTo>
                <a:close/>
              </a:path>
            </a:pathLst>
          </a:custGeom>
          <a:solidFill>
            <a:srgbClr val="1D315A">
              <a:alpha val="3333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bg>
      <p:bgPr>
        <a:solidFill>
          <a:schemeClr val="accent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 rotWithShape="1">
          <a:blip r:embed="rId2">
            <a:alphaModFix amt="30000"/>
          </a:blip>
          <a:srcRect b="7833" l="0" r="0" t="7834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5"/>
          <p:cNvSpPr txBox="1"/>
          <p:nvPr>
            <p:ph type="title"/>
          </p:nvPr>
        </p:nvSpPr>
        <p:spPr>
          <a:xfrm>
            <a:off x="715100" y="1646675"/>
            <a:ext cx="25713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6" name="Google Shape;66;p15"/>
          <p:cNvSpPr txBox="1"/>
          <p:nvPr>
            <p:ph idx="1" type="subTitle"/>
          </p:nvPr>
        </p:nvSpPr>
        <p:spPr>
          <a:xfrm>
            <a:off x="715100" y="2643275"/>
            <a:ext cx="2571300" cy="11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2" type="subTitle"/>
          </p:nvPr>
        </p:nvSpPr>
        <p:spPr>
          <a:xfrm>
            <a:off x="715100" y="2183074"/>
            <a:ext cx="25713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8" name="Google Shape;68;p15"/>
          <p:cNvSpPr txBox="1"/>
          <p:nvPr>
            <p:ph idx="3" type="title"/>
          </p:nvPr>
        </p:nvSpPr>
        <p:spPr>
          <a:xfrm>
            <a:off x="715100" y="535000"/>
            <a:ext cx="7713900" cy="6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  <a:defRPr b="1" sz="3300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  <a:defRPr b="1" sz="3500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  <a:defRPr b="1" sz="3500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  <a:defRPr b="1" sz="3500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  <a:defRPr b="1" sz="3500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  <a:defRPr b="1" sz="3500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  <a:defRPr b="1" sz="3500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  <a:defRPr b="1" sz="3500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  <a:defRPr b="1" sz="3500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9pPr>
          </a:lstStyle>
          <a:p/>
        </p:txBody>
      </p:sp>
      <p:sp>
        <p:nvSpPr>
          <p:cNvPr id="69" name="Google Shape;69;p15"/>
          <p:cNvSpPr txBox="1"/>
          <p:nvPr>
            <p:ph idx="4" type="title"/>
          </p:nvPr>
        </p:nvSpPr>
        <p:spPr>
          <a:xfrm>
            <a:off x="3286400" y="1646675"/>
            <a:ext cx="25713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0" name="Google Shape;70;p15"/>
          <p:cNvSpPr txBox="1"/>
          <p:nvPr>
            <p:ph idx="5" type="subTitle"/>
          </p:nvPr>
        </p:nvSpPr>
        <p:spPr>
          <a:xfrm>
            <a:off x="3286400" y="2643275"/>
            <a:ext cx="2571300" cy="11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6" type="subTitle"/>
          </p:nvPr>
        </p:nvSpPr>
        <p:spPr>
          <a:xfrm>
            <a:off x="3286400" y="2183074"/>
            <a:ext cx="25713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2" name="Google Shape;72;p15"/>
          <p:cNvSpPr txBox="1"/>
          <p:nvPr>
            <p:ph idx="7" type="title"/>
          </p:nvPr>
        </p:nvSpPr>
        <p:spPr>
          <a:xfrm>
            <a:off x="5857700" y="1646675"/>
            <a:ext cx="25713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3" name="Google Shape;73;p15"/>
          <p:cNvSpPr txBox="1"/>
          <p:nvPr>
            <p:ph idx="8" type="subTitle"/>
          </p:nvPr>
        </p:nvSpPr>
        <p:spPr>
          <a:xfrm>
            <a:off x="5857700" y="2643275"/>
            <a:ext cx="2571300" cy="11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idx="9" type="subTitle"/>
          </p:nvPr>
        </p:nvSpPr>
        <p:spPr>
          <a:xfrm>
            <a:off x="5857700" y="2183074"/>
            <a:ext cx="25713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5" name="Google Shape;75;p15"/>
          <p:cNvSpPr/>
          <p:nvPr/>
        </p:nvSpPr>
        <p:spPr>
          <a:xfrm rot="-4500156">
            <a:off x="-3126352" y="-450872"/>
            <a:ext cx="5404399" cy="3116787"/>
          </a:xfrm>
          <a:custGeom>
            <a:rect b="b" l="l" r="r" t="t"/>
            <a:pathLst>
              <a:path extrusionOk="0" h="36246" w="62848">
                <a:moveTo>
                  <a:pt x="29418" y="1"/>
                </a:moveTo>
                <a:cubicBezTo>
                  <a:pt x="23186" y="1"/>
                  <a:pt x="16953" y="1205"/>
                  <a:pt x="11200" y="3601"/>
                </a:cubicBezTo>
                <a:cubicBezTo>
                  <a:pt x="6980" y="5358"/>
                  <a:pt x="3402" y="8170"/>
                  <a:pt x="1597" y="12511"/>
                </a:cubicBezTo>
                <a:cubicBezTo>
                  <a:pt x="1" y="16347"/>
                  <a:pt x="3947" y="19935"/>
                  <a:pt x="7422" y="20828"/>
                </a:cubicBezTo>
                <a:cubicBezTo>
                  <a:pt x="8580" y="21127"/>
                  <a:pt x="9759" y="21241"/>
                  <a:pt x="10948" y="21241"/>
                </a:cubicBezTo>
                <a:cubicBezTo>
                  <a:pt x="13167" y="21241"/>
                  <a:pt x="15419" y="20844"/>
                  <a:pt x="17627" y="20511"/>
                </a:cubicBezTo>
                <a:cubicBezTo>
                  <a:pt x="19203" y="20273"/>
                  <a:pt x="20828" y="20074"/>
                  <a:pt x="22428" y="20074"/>
                </a:cubicBezTo>
                <a:cubicBezTo>
                  <a:pt x="24271" y="20074"/>
                  <a:pt x="26081" y="20337"/>
                  <a:pt x="27745" y="21110"/>
                </a:cubicBezTo>
                <a:cubicBezTo>
                  <a:pt x="33061" y="23566"/>
                  <a:pt x="35052" y="30190"/>
                  <a:pt x="39701" y="33752"/>
                </a:cubicBezTo>
                <a:cubicBezTo>
                  <a:pt x="41910" y="35444"/>
                  <a:pt x="44648" y="36246"/>
                  <a:pt x="47416" y="36246"/>
                </a:cubicBezTo>
                <a:cubicBezTo>
                  <a:pt x="51200" y="36246"/>
                  <a:pt x="55039" y="34748"/>
                  <a:pt x="57652" y="31981"/>
                </a:cubicBezTo>
                <a:cubicBezTo>
                  <a:pt x="62178" y="27191"/>
                  <a:pt x="62847" y="19386"/>
                  <a:pt x="59684" y="13605"/>
                </a:cubicBezTo>
                <a:cubicBezTo>
                  <a:pt x="56782" y="8300"/>
                  <a:pt x="51273" y="4893"/>
                  <a:pt x="45592" y="2824"/>
                </a:cubicBezTo>
                <a:cubicBezTo>
                  <a:pt x="40422" y="939"/>
                  <a:pt x="34920" y="1"/>
                  <a:pt x="29418" y="1"/>
                </a:cubicBezTo>
                <a:close/>
              </a:path>
            </a:pathLst>
          </a:custGeom>
          <a:solidFill>
            <a:srgbClr val="1D315A">
              <a:alpha val="3333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5"/>
          <p:cNvSpPr/>
          <p:nvPr/>
        </p:nvSpPr>
        <p:spPr>
          <a:xfrm rot="4609377">
            <a:off x="5975724" y="3547191"/>
            <a:ext cx="3268076" cy="4867654"/>
          </a:xfrm>
          <a:custGeom>
            <a:rect b="b" l="l" r="r" t="t"/>
            <a:pathLst>
              <a:path extrusionOk="0" h="81010" w="54389">
                <a:moveTo>
                  <a:pt x="21615" y="0"/>
                </a:moveTo>
                <a:cubicBezTo>
                  <a:pt x="15999" y="0"/>
                  <a:pt x="10382" y="2015"/>
                  <a:pt x="6504" y="6040"/>
                </a:cubicBezTo>
                <a:cubicBezTo>
                  <a:pt x="1376" y="11362"/>
                  <a:pt x="1" y="20245"/>
                  <a:pt x="4057" y="26421"/>
                </a:cubicBezTo>
                <a:cubicBezTo>
                  <a:pt x="6300" y="29832"/>
                  <a:pt x="9838" y="32158"/>
                  <a:pt x="13436" y="34079"/>
                </a:cubicBezTo>
                <a:cubicBezTo>
                  <a:pt x="17034" y="35997"/>
                  <a:pt x="20823" y="37630"/>
                  <a:pt x="24070" y="40101"/>
                </a:cubicBezTo>
                <a:cubicBezTo>
                  <a:pt x="27313" y="42574"/>
                  <a:pt x="30035" y="46085"/>
                  <a:pt x="30440" y="50145"/>
                </a:cubicBezTo>
                <a:cubicBezTo>
                  <a:pt x="31079" y="56552"/>
                  <a:pt x="25954" y="62282"/>
                  <a:pt x="25774" y="68722"/>
                </a:cubicBezTo>
                <a:lnTo>
                  <a:pt x="25774" y="68719"/>
                </a:lnTo>
                <a:lnTo>
                  <a:pt x="25774" y="68719"/>
                </a:lnTo>
                <a:cubicBezTo>
                  <a:pt x="25673" y="72213"/>
                  <a:pt x="27287" y="75617"/>
                  <a:pt x="29797" y="78004"/>
                </a:cubicBezTo>
                <a:cubicBezTo>
                  <a:pt x="32020" y="80119"/>
                  <a:pt x="34165" y="81010"/>
                  <a:pt x="36193" y="81010"/>
                </a:cubicBezTo>
                <a:cubicBezTo>
                  <a:pt x="44325" y="81010"/>
                  <a:pt x="50560" y="66685"/>
                  <a:pt x="52307" y="59631"/>
                </a:cubicBezTo>
                <a:cubicBezTo>
                  <a:pt x="54389" y="51220"/>
                  <a:pt x="54131" y="42350"/>
                  <a:pt x="52528" y="33831"/>
                </a:cubicBezTo>
                <a:cubicBezTo>
                  <a:pt x="51159" y="26571"/>
                  <a:pt x="48772" y="19392"/>
                  <a:pt x="44558" y="13320"/>
                </a:cubicBezTo>
                <a:cubicBezTo>
                  <a:pt x="40347" y="7252"/>
                  <a:pt x="34172" y="2348"/>
                  <a:pt x="26985" y="628"/>
                </a:cubicBezTo>
                <a:cubicBezTo>
                  <a:pt x="25234" y="209"/>
                  <a:pt x="23425" y="0"/>
                  <a:pt x="21615" y="0"/>
                </a:cubicBezTo>
                <a:close/>
              </a:path>
            </a:pathLst>
          </a:custGeom>
          <a:solidFill>
            <a:srgbClr val="69B6DB">
              <a:alpha val="564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6"/>
          <p:cNvPicPr preferRelativeResize="0"/>
          <p:nvPr/>
        </p:nvPicPr>
        <p:blipFill rotWithShape="1">
          <a:blip r:embed="rId2">
            <a:alphaModFix amt="30000"/>
          </a:blip>
          <a:srcRect b="7833" l="0" r="0" t="7834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 txBox="1"/>
          <p:nvPr>
            <p:ph type="title"/>
          </p:nvPr>
        </p:nvSpPr>
        <p:spPr>
          <a:xfrm>
            <a:off x="716400" y="2260050"/>
            <a:ext cx="7711200" cy="87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0" name="Google Shape;80;p16"/>
          <p:cNvSpPr txBox="1"/>
          <p:nvPr>
            <p:ph idx="2" type="title"/>
          </p:nvPr>
        </p:nvSpPr>
        <p:spPr>
          <a:xfrm>
            <a:off x="716400" y="1380450"/>
            <a:ext cx="7711200" cy="8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81" name="Google Shape;81;p16"/>
          <p:cNvSpPr txBox="1"/>
          <p:nvPr>
            <p:ph idx="1" type="subTitle"/>
          </p:nvPr>
        </p:nvSpPr>
        <p:spPr>
          <a:xfrm>
            <a:off x="716400" y="3063450"/>
            <a:ext cx="7711200" cy="3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3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6"/>
          <p:cNvSpPr/>
          <p:nvPr/>
        </p:nvSpPr>
        <p:spPr>
          <a:xfrm rot="-1274128">
            <a:off x="6986225" y="-1631428"/>
            <a:ext cx="3783336" cy="5635111"/>
          </a:xfrm>
          <a:custGeom>
            <a:rect b="b" l="l" r="r" t="t"/>
            <a:pathLst>
              <a:path extrusionOk="0" h="81010" w="54389">
                <a:moveTo>
                  <a:pt x="21615" y="0"/>
                </a:moveTo>
                <a:cubicBezTo>
                  <a:pt x="15999" y="0"/>
                  <a:pt x="10382" y="2015"/>
                  <a:pt x="6504" y="6040"/>
                </a:cubicBezTo>
                <a:cubicBezTo>
                  <a:pt x="1376" y="11362"/>
                  <a:pt x="1" y="20245"/>
                  <a:pt x="4057" y="26421"/>
                </a:cubicBezTo>
                <a:cubicBezTo>
                  <a:pt x="6300" y="29832"/>
                  <a:pt x="9838" y="32158"/>
                  <a:pt x="13436" y="34079"/>
                </a:cubicBezTo>
                <a:cubicBezTo>
                  <a:pt x="17034" y="35997"/>
                  <a:pt x="20823" y="37630"/>
                  <a:pt x="24070" y="40101"/>
                </a:cubicBezTo>
                <a:cubicBezTo>
                  <a:pt x="27313" y="42574"/>
                  <a:pt x="30035" y="46085"/>
                  <a:pt x="30440" y="50145"/>
                </a:cubicBezTo>
                <a:cubicBezTo>
                  <a:pt x="31079" y="56552"/>
                  <a:pt x="25954" y="62282"/>
                  <a:pt x="25774" y="68722"/>
                </a:cubicBezTo>
                <a:lnTo>
                  <a:pt x="25774" y="68719"/>
                </a:lnTo>
                <a:lnTo>
                  <a:pt x="25774" y="68719"/>
                </a:lnTo>
                <a:cubicBezTo>
                  <a:pt x="25673" y="72213"/>
                  <a:pt x="27287" y="75617"/>
                  <a:pt x="29797" y="78004"/>
                </a:cubicBezTo>
                <a:cubicBezTo>
                  <a:pt x="32020" y="80119"/>
                  <a:pt x="34165" y="81010"/>
                  <a:pt x="36193" y="81010"/>
                </a:cubicBezTo>
                <a:cubicBezTo>
                  <a:pt x="44325" y="81010"/>
                  <a:pt x="50560" y="66685"/>
                  <a:pt x="52307" y="59631"/>
                </a:cubicBezTo>
                <a:cubicBezTo>
                  <a:pt x="54389" y="51220"/>
                  <a:pt x="54131" y="42350"/>
                  <a:pt x="52528" y="33831"/>
                </a:cubicBezTo>
                <a:cubicBezTo>
                  <a:pt x="51159" y="26571"/>
                  <a:pt x="48772" y="19392"/>
                  <a:pt x="44558" y="13320"/>
                </a:cubicBezTo>
                <a:cubicBezTo>
                  <a:pt x="40347" y="7252"/>
                  <a:pt x="34172" y="2348"/>
                  <a:pt x="26985" y="628"/>
                </a:cubicBezTo>
                <a:cubicBezTo>
                  <a:pt x="25234" y="209"/>
                  <a:pt x="23425" y="0"/>
                  <a:pt x="21615" y="0"/>
                </a:cubicBezTo>
                <a:close/>
              </a:path>
            </a:pathLst>
          </a:custGeom>
          <a:solidFill>
            <a:srgbClr val="69B6DB">
              <a:alpha val="564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6"/>
          <p:cNvSpPr/>
          <p:nvPr/>
        </p:nvSpPr>
        <p:spPr>
          <a:xfrm rot="9900048">
            <a:off x="-1852897" y="1240141"/>
            <a:ext cx="3783296" cy="5635051"/>
          </a:xfrm>
          <a:custGeom>
            <a:rect b="b" l="l" r="r" t="t"/>
            <a:pathLst>
              <a:path extrusionOk="0" h="81010" w="54389">
                <a:moveTo>
                  <a:pt x="21615" y="0"/>
                </a:moveTo>
                <a:cubicBezTo>
                  <a:pt x="15999" y="0"/>
                  <a:pt x="10382" y="2015"/>
                  <a:pt x="6504" y="6040"/>
                </a:cubicBezTo>
                <a:cubicBezTo>
                  <a:pt x="1376" y="11362"/>
                  <a:pt x="1" y="20245"/>
                  <a:pt x="4057" y="26421"/>
                </a:cubicBezTo>
                <a:cubicBezTo>
                  <a:pt x="6300" y="29832"/>
                  <a:pt x="9838" y="32158"/>
                  <a:pt x="13436" y="34079"/>
                </a:cubicBezTo>
                <a:cubicBezTo>
                  <a:pt x="17034" y="35997"/>
                  <a:pt x="20823" y="37630"/>
                  <a:pt x="24070" y="40101"/>
                </a:cubicBezTo>
                <a:cubicBezTo>
                  <a:pt x="27313" y="42574"/>
                  <a:pt x="30035" y="46085"/>
                  <a:pt x="30440" y="50145"/>
                </a:cubicBezTo>
                <a:cubicBezTo>
                  <a:pt x="31079" y="56552"/>
                  <a:pt x="25954" y="62282"/>
                  <a:pt x="25774" y="68722"/>
                </a:cubicBezTo>
                <a:lnTo>
                  <a:pt x="25774" y="68719"/>
                </a:lnTo>
                <a:lnTo>
                  <a:pt x="25774" y="68719"/>
                </a:lnTo>
                <a:cubicBezTo>
                  <a:pt x="25673" y="72213"/>
                  <a:pt x="27287" y="75617"/>
                  <a:pt x="29797" y="78004"/>
                </a:cubicBezTo>
                <a:cubicBezTo>
                  <a:pt x="32020" y="80119"/>
                  <a:pt x="34165" y="81010"/>
                  <a:pt x="36193" y="81010"/>
                </a:cubicBezTo>
                <a:cubicBezTo>
                  <a:pt x="44325" y="81010"/>
                  <a:pt x="50560" y="66685"/>
                  <a:pt x="52307" y="59631"/>
                </a:cubicBezTo>
                <a:cubicBezTo>
                  <a:pt x="54389" y="51220"/>
                  <a:pt x="54131" y="42350"/>
                  <a:pt x="52528" y="33831"/>
                </a:cubicBezTo>
                <a:cubicBezTo>
                  <a:pt x="51159" y="26571"/>
                  <a:pt x="48772" y="19392"/>
                  <a:pt x="44558" y="13320"/>
                </a:cubicBezTo>
                <a:cubicBezTo>
                  <a:pt x="40347" y="7252"/>
                  <a:pt x="34172" y="2348"/>
                  <a:pt x="26985" y="628"/>
                </a:cubicBezTo>
                <a:cubicBezTo>
                  <a:pt x="25234" y="209"/>
                  <a:pt x="23425" y="0"/>
                  <a:pt x="21615" y="0"/>
                </a:cubicBezTo>
                <a:close/>
              </a:path>
            </a:pathLst>
          </a:custGeom>
          <a:solidFill>
            <a:srgbClr val="1D315A">
              <a:alpha val="3333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accen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7"/>
          <p:cNvPicPr preferRelativeResize="0"/>
          <p:nvPr/>
        </p:nvPicPr>
        <p:blipFill rotWithShape="1">
          <a:blip r:embed="rId2">
            <a:alphaModFix amt="30000"/>
          </a:blip>
          <a:srcRect b="7833" l="0" r="0" t="7834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 rot="-4500156">
            <a:off x="-3126352" y="-450872"/>
            <a:ext cx="5404399" cy="3116787"/>
          </a:xfrm>
          <a:custGeom>
            <a:rect b="b" l="l" r="r" t="t"/>
            <a:pathLst>
              <a:path extrusionOk="0" h="36246" w="62848">
                <a:moveTo>
                  <a:pt x="29418" y="1"/>
                </a:moveTo>
                <a:cubicBezTo>
                  <a:pt x="23186" y="1"/>
                  <a:pt x="16953" y="1205"/>
                  <a:pt x="11200" y="3601"/>
                </a:cubicBezTo>
                <a:cubicBezTo>
                  <a:pt x="6980" y="5358"/>
                  <a:pt x="3402" y="8170"/>
                  <a:pt x="1597" y="12511"/>
                </a:cubicBezTo>
                <a:cubicBezTo>
                  <a:pt x="1" y="16347"/>
                  <a:pt x="3947" y="19935"/>
                  <a:pt x="7422" y="20828"/>
                </a:cubicBezTo>
                <a:cubicBezTo>
                  <a:pt x="8580" y="21127"/>
                  <a:pt x="9759" y="21241"/>
                  <a:pt x="10948" y="21241"/>
                </a:cubicBezTo>
                <a:cubicBezTo>
                  <a:pt x="13167" y="21241"/>
                  <a:pt x="15419" y="20844"/>
                  <a:pt x="17627" y="20511"/>
                </a:cubicBezTo>
                <a:cubicBezTo>
                  <a:pt x="19203" y="20273"/>
                  <a:pt x="20828" y="20074"/>
                  <a:pt x="22428" y="20074"/>
                </a:cubicBezTo>
                <a:cubicBezTo>
                  <a:pt x="24271" y="20074"/>
                  <a:pt x="26081" y="20337"/>
                  <a:pt x="27745" y="21110"/>
                </a:cubicBezTo>
                <a:cubicBezTo>
                  <a:pt x="33061" y="23566"/>
                  <a:pt x="35052" y="30190"/>
                  <a:pt x="39701" y="33752"/>
                </a:cubicBezTo>
                <a:cubicBezTo>
                  <a:pt x="41910" y="35444"/>
                  <a:pt x="44648" y="36246"/>
                  <a:pt x="47416" y="36246"/>
                </a:cubicBezTo>
                <a:cubicBezTo>
                  <a:pt x="51200" y="36246"/>
                  <a:pt x="55039" y="34748"/>
                  <a:pt x="57652" y="31981"/>
                </a:cubicBezTo>
                <a:cubicBezTo>
                  <a:pt x="62178" y="27191"/>
                  <a:pt x="62847" y="19386"/>
                  <a:pt x="59684" y="13605"/>
                </a:cubicBezTo>
                <a:cubicBezTo>
                  <a:pt x="56782" y="8300"/>
                  <a:pt x="51273" y="4893"/>
                  <a:pt x="45592" y="2824"/>
                </a:cubicBezTo>
                <a:cubicBezTo>
                  <a:pt x="40422" y="939"/>
                  <a:pt x="34920" y="1"/>
                  <a:pt x="29418" y="1"/>
                </a:cubicBezTo>
                <a:close/>
              </a:path>
            </a:pathLst>
          </a:custGeom>
          <a:solidFill>
            <a:srgbClr val="69B6DB">
              <a:alpha val="564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7"/>
          <p:cNvSpPr/>
          <p:nvPr/>
        </p:nvSpPr>
        <p:spPr>
          <a:xfrm rot="5668310">
            <a:off x="6166155" y="3088384"/>
            <a:ext cx="3268122" cy="4867722"/>
          </a:xfrm>
          <a:custGeom>
            <a:rect b="b" l="l" r="r" t="t"/>
            <a:pathLst>
              <a:path extrusionOk="0" h="81010" w="54389">
                <a:moveTo>
                  <a:pt x="21615" y="0"/>
                </a:moveTo>
                <a:cubicBezTo>
                  <a:pt x="15999" y="0"/>
                  <a:pt x="10382" y="2015"/>
                  <a:pt x="6504" y="6040"/>
                </a:cubicBezTo>
                <a:cubicBezTo>
                  <a:pt x="1376" y="11362"/>
                  <a:pt x="1" y="20245"/>
                  <a:pt x="4057" y="26421"/>
                </a:cubicBezTo>
                <a:cubicBezTo>
                  <a:pt x="6300" y="29832"/>
                  <a:pt x="9838" y="32158"/>
                  <a:pt x="13436" y="34079"/>
                </a:cubicBezTo>
                <a:cubicBezTo>
                  <a:pt x="17034" y="35997"/>
                  <a:pt x="20823" y="37630"/>
                  <a:pt x="24070" y="40101"/>
                </a:cubicBezTo>
                <a:cubicBezTo>
                  <a:pt x="27313" y="42574"/>
                  <a:pt x="30035" y="46085"/>
                  <a:pt x="30440" y="50145"/>
                </a:cubicBezTo>
                <a:cubicBezTo>
                  <a:pt x="31079" y="56552"/>
                  <a:pt x="25954" y="62282"/>
                  <a:pt x="25774" y="68722"/>
                </a:cubicBezTo>
                <a:lnTo>
                  <a:pt x="25774" y="68719"/>
                </a:lnTo>
                <a:lnTo>
                  <a:pt x="25774" y="68719"/>
                </a:lnTo>
                <a:cubicBezTo>
                  <a:pt x="25673" y="72213"/>
                  <a:pt x="27287" y="75617"/>
                  <a:pt x="29797" y="78004"/>
                </a:cubicBezTo>
                <a:cubicBezTo>
                  <a:pt x="32020" y="80119"/>
                  <a:pt x="34165" y="81010"/>
                  <a:pt x="36193" y="81010"/>
                </a:cubicBezTo>
                <a:cubicBezTo>
                  <a:pt x="44325" y="81010"/>
                  <a:pt x="50560" y="66685"/>
                  <a:pt x="52307" y="59631"/>
                </a:cubicBezTo>
                <a:cubicBezTo>
                  <a:pt x="54389" y="51220"/>
                  <a:pt x="54131" y="42350"/>
                  <a:pt x="52528" y="33831"/>
                </a:cubicBezTo>
                <a:cubicBezTo>
                  <a:pt x="51159" y="26571"/>
                  <a:pt x="48772" y="19392"/>
                  <a:pt x="44558" y="13320"/>
                </a:cubicBezTo>
                <a:cubicBezTo>
                  <a:pt x="40347" y="7252"/>
                  <a:pt x="34172" y="2348"/>
                  <a:pt x="26985" y="628"/>
                </a:cubicBezTo>
                <a:cubicBezTo>
                  <a:pt x="25234" y="209"/>
                  <a:pt x="23425" y="0"/>
                  <a:pt x="21615" y="0"/>
                </a:cubicBezTo>
                <a:close/>
              </a:path>
            </a:pathLst>
          </a:custGeom>
          <a:solidFill>
            <a:srgbClr val="1D315A">
              <a:alpha val="3333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7"/>
          <p:cNvSpPr txBox="1"/>
          <p:nvPr>
            <p:ph idx="1" type="subTitle"/>
          </p:nvPr>
        </p:nvSpPr>
        <p:spPr>
          <a:xfrm>
            <a:off x="715100" y="2335400"/>
            <a:ext cx="3516600" cy="15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7"/>
          <p:cNvSpPr txBox="1"/>
          <p:nvPr>
            <p:ph idx="2" type="subTitle"/>
          </p:nvPr>
        </p:nvSpPr>
        <p:spPr>
          <a:xfrm>
            <a:off x="715100" y="1875200"/>
            <a:ext cx="35166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0" name="Google Shape;90;p17"/>
          <p:cNvSpPr txBox="1"/>
          <p:nvPr>
            <p:ph idx="3" type="subTitle"/>
          </p:nvPr>
        </p:nvSpPr>
        <p:spPr>
          <a:xfrm>
            <a:off x="4912401" y="2335400"/>
            <a:ext cx="3516600" cy="15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4" type="subTitle"/>
          </p:nvPr>
        </p:nvSpPr>
        <p:spPr>
          <a:xfrm>
            <a:off x="4912409" y="1875200"/>
            <a:ext cx="35166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2" name="Google Shape;92;p17"/>
          <p:cNvSpPr txBox="1"/>
          <p:nvPr>
            <p:ph type="title"/>
          </p:nvPr>
        </p:nvSpPr>
        <p:spPr>
          <a:xfrm>
            <a:off x="715100" y="535000"/>
            <a:ext cx="77139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  <a:defRPr b="1" sz="3500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  <a:defRPr b="1" sz="3500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  <a:defRPr b="1" sz="3500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  <a:defRPr b="1" sz="3500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  <a:defRPr b="1" sz="3500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  <a:defRPr b="1" sz="3500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  <a:defRPr b="1" sz="3500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  <a:defRPr b="1" sz="3500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  <a:defRPr b="1" sz="3500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bg>
      <p:bgPr>
        <a:solidFill>
          <a:schemeClr val="accent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8"/>
          <p:cNvPicPr preferRelativeResize="0"/>
          <p:nvPr/>
        </p:nvPicPr>
        <p:blipFill rotWithShape="1">
          <a:blip r:embed="rId2">
            <a:alphaModFix amt="30000"/>
          </a:blip>
          <a:srcRect b="7833" l="0" r="0" t="7834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 txBox="1"/>
          <p:nvPr>
            <p:ph type="title"/>
          </p:nvPr>
        </p:nvSpPr>
        <p:spPr>
          <a:xfrm>
            <a:off x="715100" y="535000"/>
            <a:ext cx="77139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  <a:defRPr b="1" sz="3500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  <a:defRPr b="1" sz="3500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  <a:defRPr b="1" sz="3500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  <a:defRPr b="1" sz="3500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  <a:defRPr b="1" sz="3500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  <a:defRPr b="1" sz="3500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  <a:defRPr b="1" sz="3500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  <a:defRPr b="1" sz="3500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  <a:defRPr b="1" sz="3500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9pPr>
          </a:lstStyle>
          <a:p/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1539300" y="1519400"/>
            <a:ext cx="6065400" cy="25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 Medium"/>
              <a:buChar char="●"/>
              <a:defRPr sz="1100">
                <a:solidFill>
                  <a:srgbClr val="262457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 Medium"/>
              <a:buChar char="○"/>
              <a:defRPr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 Medium"/>
              <a:buChar char="■"/>
              <a:defRPr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 Medium"/>
              <a:buChar char="●"/>
              <a:defRPr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 Medium"/>
              <a:buChar char="○"/>
              <a:defRPr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 Medium"/>
              <a:buChar char="■"/>
              <a:defRPr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 Medium"/>
              <a:buChar char="●"/>
              <a:defRPr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 Medium"/>
              <a:buChar char="○"/>
              <a:defRPr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 Medium"/>
              <a:buChar char="■"/>
              <a:defRPr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97" name="Google Shape;97;p18"/>
          <p:cNvSpPr/>
          <p:nvPr/>
        </p:nvSpPr>
        <p:spPr>
          <a:xfrm rot="-4500156">
            <a:off x="-3126352" y="-450872"/>
            <a:ext cx="5404399" cy="3116787"/>
          </a:xfrm>
          <a:custGeom>
            <a:rect b="b" l="l" r="r" t="t"/>
            <a:pathLst>
              <a:path extrusionOk="0" h="36246" w="62848">
                <a:moveTo>
                  <a:pt x="29418" y="1"/>
                </a:moveTo>
                <a:cubicBezTo>
                  <a:pt x="23186" y="1"/>
                  <a:pt x="16953" y="1205"/>
                  <a:pt x="11200" y="3601"/>
                </a:cubicBezTo>
                <a:cubicBezTo>
                  <a:pt x="6980" y="5358"/>
                  <a:pt x="3402" y="8170"/>
                  <a:pt x="1597" y="12511"/>
                </a:cubicBezTo>
                <a:cubicBezTo>
                  <a:pt x="1" y="16347"/>
                  <a:pt x="3947" y="19935"/>
                  <a:pt x="7422" y="20828"/>
                </a:cubicBezTo>
                <a:cubicBezTo>
                  <a:pt x="8580" y="21127"/>
                  <a:pt x="9759" y="21241"/>
                  <a:pt x="10948" y="21241"/>
                </a:cubicBezTo>
                <a:cubicBezTo>
                  <a:pt x="13167" y="21241"/>
                  <a:pt x="15419" y="20844"/>
                  <a:pt x="17627" y="20511"/>
                </a:cubicBezTo>
                <a:cubicBezTo>
                  <a:pt x="19203" y="20273"/>
                  <a:pt x="20828" y="20074"/>
                  <a:pt x="22428" y="20074"/>
                </a:cubicBezTo>
                <a:cubicBezTo>
                  <a:pt x="24271" y="20074"/>
                  <a:pt x="26081" y="20337"/>
                  <a:pt x="27745" y="21110"/>
                </a:cubicBezTo>
                <a:cubicBezTo>
                  <a:pt x="33061" y="23566"/>
                  <a:pt x="35052" y="30190"/>
                  <a:pt x="39701" y="33752"/>
                </a:cubicBezTo>
                <a:cubicBezTo>
                  <a:pt x="41910" y="35444"/>
                  <a:pt x="44648" y="36246"/>
                  <a:pt x="47416" y="36246"/>
                </a:cubicBezTo>
                <a:cubicBezTo>
                  <a:pt x="51200" y="36246"/>
                  <a:pt x="55039" y="34748"/>
                  <a:pt x="57652" y="31981"/>
                </a:cubicBezTo>
                <a:cubicBezTo>
                  <a:pt x="62178" y="27191"/>
                  <a:pt x="62847" y="19386"/>
                  <a:pt x="59684" y="13605"/>
                </a:cubicBezTo>
                <a:cubicBezTo>
                  <a:pt x="56782" y="8300"/>
                  <a:pt x="51273" y="4893"/>
                  <a:pt x="45592" y="2824"/>
                </a:cubicBezTo>
                <a:cubicBezTo>
                  <a:pt x="40422" y="939"/>
                  <a:pt x="34920" y="1"/>
                  <a:pt x="29418" y="1"/>
                </a:cubicBezTo>
                <a:close/>
              </a:path>
            </a:pathLst>
          </a:custGeom>
          <a:solidFill>
            <a:srgbClr val="1D315A">
              <a:alpha val="3333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8"/>
          <p:cNvSpPr/>
          <p:nvPr/>
        </p:nvSpPr>
        <p:spPr>
          <a:xfrm rot="5400000">
            <a:off x="6032845" y="2918535"/>
            <a:ext cx="3268099" cy="4867688"/>
          </a:xfrm>
          <a:custGeom>
            <a:rect b="b" l="l" r="r" t="t"/>
            <a:pathLst>
              <a:path extrusionOk="0" h="81010" w="54389">
                <a:moveTo>
                  <a:pt x="21615" y="0"/>
                </a:moveTo>
                <a:cubicBezTo>
                  <a:pt x="15999" y="0"/>
                  <a:pt x="10382" y="2015"/>
                  <a:pt x="6504" y="6040"/>
                </a:cubicBezTo>
                <a:cubicBezTo>
                  <a:pt x="1376" y="11362"/>
                  <a:pt x="1" y="20245"/>
                  <a:pt x="4057" y="26421"/>
                </a:cubicBezTo>
                <a:cubicBezTo>
                  <a:pt x="6300" y="29832"/>
                  <a:pt x="9838" y="32158"/>
                  <a:pt x="13436" y="34079"/>
                </a:cubicBezTo>
                <a:cubicBezTo>
                  <a:pt x="17034" y="35997"/>
                  <a:pt x="20823" y="37630"/>
                  <a:pt x="24070" y="40101"/>
                </a:cubicBezTo>
                <a:cubicBezTo>
                  <a:pt x="27313" y="42574"/>
                  <a:pt x="30035" y="46085"/>
                  <a:pt x="30440" y="50145"/>
                </a:cubicBezTo>
                <a:cubicBezTo>
                  <a:pt x="31079" y="56552"/>
                  <a:pt x="25954" y="62282"/>
                  <a:pt x="25774" y="68722"/>
                </a:cubicBezTo>
                <a:lnTo>
                  <a:pt x="25774" y="68719"/>
                </a:lnTo>
                <a:lnTo>
                  <a:pt x="25774" y="68719"/>
                </a:lnTo>
                <a:cubicBezTo>
                  <a:pt x="25673" y="72213"/>
                  <a:pt x="27287" y="75617"/>
                  <a:pt x="29797" y="78004"/>
                </a:cubicBezTo>
                <a:cubicBezTo>
                  <a:pt x="32020" y="80119"/>
                  <a:pt x="34165" y="81010"/>
                  <a:pt x="36193" y="81010"/>
                </a:cubicBezTo>
                <a:cubicBezTo>
                  <a:pt x="44325" y="81010"/>
                  <a:pt x="50560" y="66685"/>
                  <a:pt x="52307" y="59631"/>
                </a:cubicBezTo>
                <a:cubicBezTo>
                  <a:pt x="54389" y="51220"/>
                  <a:pt x="54131" y="42350"/>
                  <a:pt x="52528" y="33831"/>
                </a:cubicBezTo>
                <a:cubicBezTo>
                  <a:pt x="51159" y="26571"/>
                  <a:pt x="48772" y="19392"/>
                  <a:pt x="44558" y="13320"/>
                </a:cubicBezTo>
                <a:cubicBezTo>
                  <a:pt x="40347" y="7252"/>
                  <a:pt x="34172" y="2348"/>
                  <a:pt x="26985" y="628"/>
                </a:cubicBezTo>
                <a:cubicBezTo>
                  <a:pt x="25234" y="209"/>
                  <a:pt x="23425" y="0"/>
                  <a:pt x="21615" y="0"/>
                </a:cubicBezTo>
                <a:close/>
              </a:path>
            </a:pathLst>
          </a:custGeom>
          <a:solidFill>
            <a:srgbClr val="69B6DB">
              <a:alpha val="564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accent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/>
          <p:cNvPicPr preferRelativeResize="0"/>
          <p:nvPr/>
        </p:nvPicPr>
        <p:blipFill rotWithShape="1">
          <a:blip r:embed="rId2">
            <a:alphaModFix amt="30000"/>
          </a:blip>
          <a:srcRect b="7833" l="0" r="0" t="7834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9"/>
          <p:cNvSpPr txBox="1"/>
          <p:nvPr>
            <p:ph type="title"/>
          </p:nvPr>
        </p:nvSpPr>
        <p:spPr>
          <a:xfrm>
            <a:off x="715100" y="535000"/>
            <a:ext cx="77139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  <a:defRPr b="1" sz="3500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  <a:defRPr b="1" sz="3500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  <a:defRPr b="1" sz="3500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  <a:defRPr b="1" sz="3500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  <a:defRPr b="1" sz="3500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  <a:defRPr b="1" sz="3500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  <a:defRPr b="1" sz="3500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  <a:defRPr b="1" sz="3500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  <a:defRPr b="1" sz="3500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9pPr>
          </a:lstStyle>
          <a:p/>
        </p:txBody>
      </p:sp>
      <p:sp>
        <p:nvSpPr>
          <p:cNvPr id="102" name="Google Shape;102;p19"/>
          <p:cNvSpPr/>
          <p:nvPr/>
        </p:nvSpPr>
        <p:spPr>
          <a:xfrm rot="-3982256">
            <a:off x="-1898070" y="-273755"/>
            <a:ext cx="3300660" cy="1903894"/>
          </a:xfrm>
          <a:custGeom>
            <a:rect b="b" l="l" r="r" t="t"/>
            <a:pathLst>
              <a:path extrusionOk="0" h="36246" w="62848">
                <a:moveTo>
                  <a:pt x="29418" y="1"/>
                </a:moveTo>
                <a:cubicBezTo>
                  <a:pt x="23186" y="1"/>
                  <a:pt x="16953" y="1205"/>
                  <a:pt x="11200" y="3601"/>
                </a:cubicBezTo>
                <a:cubicBezTo>
                  <a:pt x="6980" y="5358"/>
                  <a:pt x="3402" y="8170"/>
                  <a:pt x="1597" y="12511"/>
                </a:cubicBezTo>
                <a:cubicBezTo>
                  <a:pt x="1" y="16347"/>
                  <a:pt x="3947" y="19935"/>
                  <a:pt x="7422" y="20828"/>
                </a:cubicBezTo>
                <a:cubicBezTo>
                  <a:pt x="8580" y="21127"/>
                  <a:pt x="9759" y="21241"/>
                  <a:pt x="10948" y="21241"/>
                </a:cubicBezTo>
                <a:cubicBezTo>
                  <a:pt x="13167" y="21241"/>
                  <a:pt x="15419" y="20844"/>
                  <a:pt x="17627" y="20511"/>
                </a:cubicBezTo>
                <a:cubicBezTo>
                  <a:pt x="19203" y="20273"/>
                  <a:pt x="20828" y="20074"/>
                  <a:pt x="22428" y="20074"/>
                </a:cubicBezTo>
                <a:cubicBezTo>
                  <a:pt x="24271" y="20074"/>
                  <a:pt x="26081" y="20337"/>
                  <a:pt x="27745" y="21110"/>
                </a:cubicBezTo>
                <a:cubicBezTo>
                  <a:pt x="33061" y="23566"/>
                  <a:pt x="35052" y="30190"/>
                  <a:pt x="39701" y="33752"/>
                </a:cubicBezTo>
                <a:cubicBezTo>
                  <a:pt x="41910" y="35444"/>
                  <a:pt x="44648" y="36246"/>
                  <a:pt x="47416" y="36246"/>
                </a:cubicBezTo>
                <a:cubicBezTo>
                  <a:pt x="51200" y="36246"/>
                  <a:pt x="55039" y="34748"/>
                  <a:pt x="57652" y="31981"/>
                </a:cubicBezTo>
                <a:cubicBezTo>
                  <a:pt x="62178" y="27191"/>
                  <a:pt x="62847" y="19386"/>
                  <a:pt x="59684" y="13605"/>
                </a:cubicBezTo>
                <a:cubicBezTo>
                  <a:pt x="56782" y="8300"/>
                  <a:pt x="51273" y="4893"/>
                  <a:pt x="45592" y="2824"/>
                </a:cubicBezTo>
                <a:cubicBezTo>
                  <a:pt x="40422" y="939"/>
                  <a:pt x="34920" y="1"/>
                  <a:pt x="29418" y="1"/>
                </a:cubicBezTo>
                <a:close/>
              </a:path>
            </a:pathLst>
          </a:custGeom>
          <a:solidFill>
            <a:srgbClr val="69B6DB">
              <a:alpha val="564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0"/>
          <p:cNvPicPr preferRelativeResize="0"/>
          <p:nvPr/>
        </p:nvPicPr>
        <p:blipFill rotWithShape="1">
          <a:blip r:embed="rId2">
            <a:alphaModFix amt="30000"/>
          </a:blip>
          <a:srcRect b="7833" l="0" r="0" t="7834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0"/>
          <p:cNvSpPr txBox="1"/>
          <p:nvPr>
            <p:ph type="title"/>
          </p:nvPr>
        </p:nvSpPr>
        <p:spPr>
          <a:xfrm>
            <a:off x="715100" y="535000"/>
            <a:ext cx="39195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  <a:defRPr b="1" sz="3500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  <a:defRPr b="1" sz="3500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  <a:defRPr b="1" sz="3500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  <a:defRPr b="1" sz="3500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  <a:defRPr b="1" sz="3500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  <a:defRPr b="1" sz="3500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  <a:defRPr b="1" sz="3500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  <a:defRPr b="1" sz="3500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  <a:defRPr b="1" sz="3500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9pPr>
          </a:lstStyle>
          <a:p/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715100" y="1273300"/>
            <a:ext cx="3919500" cy="3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naheim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  <p:sp>
        <p:nvSpPr>
          <p:cNvPr id="107" name="Google Shape;107;p20"/>
          <p:cNvSpPr/>
          <p:nvPr>
            <p:ph idx="2" type="pic"/>
          </p:nvPr>
        </p:nvSpPr>
        <p:spPr>
          <a:xfrm>
            <a:off x="4990075" y="852300"/>
            <a:ext cx="3438900" cy="34389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bg>
      <p:bgPr>
        <a:solidFill>
          <a:schemeClr val="accent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1"/>
          <p:cNvPicPr preferRelativeResize="0"/>
          <p:nvPr/>
        </p:nvPicPr>
        <p:blipFill rotWithShape="1">
          <a:blip r:embed="rId2">
            <a:alphaModFix amt="30000"/>
          </a:blip>
          <a:srcRect b="7833" l="0" r="0" t="7834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1"/>
          <p:cNvSpPr txBox="1"/>
          <p:nvPr>
            <p:ph idx="1" type="subTitle"/>
          </p:nvPr>
        </p:nvSpPr>
        <p:spPr>
          <a:xfrm>
            <a:off x="1361850" y="1220100"/>
            <a:ext cx="6420300" cy="201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11" name="Google Shape;111;p21"/>
          <p:cNvSpPr txBox="1"/>
          <p:nvPr>
            <p:ph idx="2" type="subTitle"/>
          </p:nvPr>
        </p:nvSpPr>
        <p:spPr>
          <a:xfrm>
            <a:off x="1361850" y="3387000"/>
            <a:ext cx="64203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2" name="Google Shape;112;p21"/>
          <p:cNvSpPr/>
          <p:nvPr/>
        </p:nvSpPr>
        <p:spPr>
          <a:xfrm rot="-10406355">
            <a:off x="-802242" y="3922562"/>
            <a:ext cx="5404339" cy="3116737"/>
          </a:xfrm>
          <a:custGeom>
            <a:rect b="b" l="l" r="r" t="t"/>
            <a:pathLst>
              <a:path extrusionOk="0" h="36246" w="62848">
                <a:moveTo>
                  <a:pt x="29418" y="1"/>
                </a:moveTo>
                <a:cubicBezTo>
                  <a:pt x="23186" y="1"/>
                  <a:pt x="16953" y="1205"/>
                  <a:pt x="11200" y="3601"/>
                </a:cubicBezTo>
                <a:cubicBezTo>
                  <a:pt x="6980" y="5358"/>
                  <a:pt x="3402" y="8170"/>
                  <a:pt x="1597" y="12511"/>
                </a:cubicBezTo>
                <a:cubicBezTo>
                  <a:pt x="1" y="16347"/>
                  <a:pt x="3947" y="19935"/>
                  <a:pt x="7422" y="20828"/>
                </a:cubicBezTo>
                <a:cubicBezTo>
                  <a:pt x="8580" y="21127"/>
                  <a:pt x="9759" y="21241"/>
                  <a:pt x="10948" y="21241"/>
                </a:cubicBezTo>
                <a:cubicBezTo>
                  <a:pt x="13167" y="21241"/>
                  <a:pt x="15419" y="20844"/>
                  <a:pt x="17627" y="20511"/>
                </a:cubicBezTo>
                <a:cubicBezTo>
                  <a:pt x="19203" y="20273"/>
                  <a:pt x="20828" y="20074"/>
                  <a:pt x="22428" y="20074"/>
                </a:cubicBezTo>
                <a:cubicBezTo>
                  <a:pt x="24271" y="20074"/>
                  <a:pt x="26081" y="20337"/>
                  <a:pt x="27745" y="21110"/>
                </a:cubicBezTo>
                <a:cubicBezTo>
                  <a:pt x="33061" y="23566"/>
                  <a:pt x="35052" y="30190"/>
                  <a:pt x="39701" y="33752"/>
                </a:cubicBezTo>
                <a:cubicBezTo>
                  <a:pt x="41910" y="35444"/>
                  <a:pt x="44648" y="36246"/>
                  <a:pt x="47416" y="36246"/>
                </a:cubicBezTo>
                <a:cubicBezTo>
                  <a:pt x="51200" y="36246"/>
                  <a:pt x="55039" y="34748"/>
                  <a:pt x="57652" y="31981"/>
                </a:cubicBezTo>
                <a:cubicBezTo>
                  <a:pt x="62178" y="27191"/>
                  <a:pt x="62847" y="19386"/>
                  <a:pt x="59684" y="13605"/>
                </a:cubicBezTo>
                <a:cubicBezTo>
                  <a:pt x="56782" y="8300"/>
                  <a:pt x="51273" y="4893"/>
                  <a:pt x="45592" y="2824"/>
                </a:cubicBezTo>
                <a:cubicBezTo>
                  <a:pt x="40422" y="939"/>
                  <a:pt x="34920" y="1"/>
                  <a:pt x="29418" y="1"/>
                </a:cubicBezTo>
                <a:close/>
              </a:path>
            </a:pathLst>
          </a:custGeom>
          <a:solidFill>
            <a:srgbClr val="1D315A">
              <a:alpha val="3333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1"/>
          <p:cNvSpPr/>
          <p:nvPr/>
        </p:nvSpPr>
        <p:spPr>
          <a:xfrm rot="-750860">
            <a:off x="7387158" y="-1172571"/>
            <a:ext cx="3268103" cy="4867694"/>
          </a:xfrm>
          <a:custGeom>
            <a:rect b="b" l="l" r="r" t="t"/>
            <a:pathLst>
              <a:path extrusionOk="0" h="81010" w="54389">
                <a:moveTo>
                  <a:pt x="21615" y="0"/>
                </a:moveTo>
                <a:cubicBezTo>
                  <a:pt x="15999" y="0"/>
                  <a:pt x="10382" y="2015"/>
                  <a:pt x="6504" y="6040"/>
                </a:cubicBezTo>
                <a:cubicBezTo>
                  <a:pt x="1376" y="11362"/>
                  <a:pt x="1" y="20245"/>
                  <a:pt x="4057" y="26421"/>
                </a:cubicBezTo>
                <a:cubicBezTo>
                  <a:pt x="6300" y="29832"/>
                  <a:pt x="9838" y="32158"/>
                  <a:pt x="13436" y="34079"/>
                </a:cubicBezTo>
                <a:cubicBezTo>
                  <a:pt x="17034" y="35997"/>
                  <a:pt x="20823" y="37630"/>
                  <a:pt x="24070" y="40101"/>
                </a:cubicBezTo>
                <a:cubicBezTo>
                  <a:pt x="27313" y="42574"/>
                  <a:pt x="30035" y="46085"/>
                  <a:pt x="30440" y="50145"/>
                </a:cubicBezTo>
                <a:cubicBezTo>
                  <a:pt x="31079" y="56552"/>
                  <a:pt x="25954" y="62282"/>
                  <a:pt x="25774" y="68722"/>
                </a:cubicBezTo>
                <a:lnTo>
                  <a:pt x="25774" y="68719"/>
                </a:lnTo>
                <a:lnTo>
                  <a:pt x="25774" y="68719"/>
                </a:lnTo>
                <a:cubicBezTo>
                  <a:pt x="25673" y="72213"/>
                  <a:pt x="27287" y="75617"/>
                  <a:pt x="29797" y="78004"/>
                </a:cubicBezTo>
                <a:cubicBezTo>
                  <a:pt x="32020" y="80119"/>
                  <a:pt x="34165" y="81010"/>
                  <a:pt x="36193" y="81010"/>
                </a:cubicBezTo>
                <a:cubicBezTo>
                  <a:pt x="44325" y="81010"/>
                  <a:pt x="50560" y="66685"/>
                  <a:pt x="52307" y="59631"/>
                </a:cubicBezTo>
                <a:cubicBezTo>
                  <a:pt x="54389" y="51220"/>
                  <a:pt x="54131" y="42350"/>
                  <a:pt x="52528" y="33831"/>
                </a:cubicBezTo>
                <a:cubicBezTo>
                  <a:pt x="51159" y="26571"/>
                  <a:pt x="48772" y="19392"/>
                  <a:pt x="44558" y="13320"/>
                </a:cubicBezTo>
                <a:cubicBezTo>
                  <a:pt x="40347" y="7252"/>
                  <a:pt x="34172" y="2348"/>
                  <a:pt x="26985" y="628"/>
                </a:cubicBezTo>
                <a:cubicBezTo>
                  <a:pt x="25234" y="209"/>
                  <a:pt x="23425" y="0"/>
                  <a:pt x="21615" y="0"/>
                </a:cubicBezTo>
                <a:close/>
              </a:path>
            </a:pathLst>
          </a:custGeom>
          <a:solidFill>
            <a:srgbClr val="69B6DB">
              <a:alpha val="564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accen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2"/>
          <p:cNvPicPr preferRelativeResize="0"/>
          <p:nvPr/>
        </p:nvPicPr>
        <p:blipFill rotWithShape="1">
          <a:blip r:embed="rId2">
            <a:alphaModFix amt="30000"/>
          </a:blip>
          <a:srcRect b="7833" l="0" r="0" t="7834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2"/>
          <p:cNvSpPr txBox="1"/>
          <p:nvPr>
            <p:ph type="title"/>
          </p:nvPr>
        </p:nvSpPr>
        <p:spPr>
          <a:xfrm>
            <a:off x="4572000" y="535000"/>
            <a:ext cx="38571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  <a:defRPr b="1" sz="3500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  <a:defRPr b="1" sz="3500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  <a:defRPr b="1" sz="3500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  <a:defRPr b="1" sz="3500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  <a:defRPr b="1" sz="3500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  <a:defRPr b="1" sz="3500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  <a:defRPr b="1" sz="3500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  <a:defRPr b="1" sz="3500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  <a:defRPr b="1" sz="3500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9pPr>
          </a:lstStyle>
          <a:p/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4572000" y="1273300"/>
            <a:ext cx="3857100" cy="3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 Medium"/>
              <a:buChar char="●"/>
              <a:defRPr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9845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 Medium"/>
              <a:buChar char="○"/>
              <a:defRPr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 Medium"/>
              <a:buChar char="■"/>
              <a:defRPr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 Medium"/>
              <a:buChar char="●"/>
              <a:defRPr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 Medium"/>
              <a:buChar char="○"/>
              <a:defRPr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 Medium"/>
              <a:buChar char="■"/>
              <a:defRPr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 Medium"/>
              <a:buChar char="●"/>
              <a:defRPr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 Medium"/>
              <a:buChar char="○"/>
              <a:defRPr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 Medium"/>
              <a:buChar char="■"/>
              <a:defRPr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118" name="Google Shape;118;p22"/>
          <p:cNvSpPr/>
          <p:nvPr>
            <p:ph idx="2" type="pic"/>
          </p:nvPr>
        </p:nvSpPr>
        <p:spPr>
          <a:xfrm>
            <a:off x="715100" y="852300"/>
            <a:ext cx="3438900" cy="343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9" name="Google Shape;119;p22"/>
          <p:cNvSpPr/>
          <p:nvPr/>
        </p:nvSpPr>
        <p:spPr>
          <a:xfrm rot="-10619017">
            <a:off x="-1328714" y="4132091"/>
            <a:ext cx="5404402" cy="3116767"/>
          </a:xfrm>
          <a:custGeom>
            <a:rect b="b" l="l" r="r" t="t"/>
            <a:pathLst>
              <a:path extrusionOk="0" h="36246" w="62848">
                <a:moveTo>
                  <a:pt x="29418" y="1"/>
                </a:moveTo>
                <a:cubicBezTo>
                  <a:pt x="23186" y="1"/>
                  <a:pt x="16953" y="1205"/>
                  <a:pt x="11200" y="3601"/>
                </a:cubicBezTo>
                <a:cubicBezTo>
                  <a:pt x="6980" y="5358"/>
                  <a:pt x="3402" y="8170"/>
                  <a:pt x="1597" y="12511"/>
                </a:cubicBezTo>
                <a:cubicBezTo>
                  <a:pt x="1" y="16347"/>
                  <a:pt x="3947" y="19935"/>
                  <a:pt x="7422" y="20828"/>
                </a:cubicBezTo>
                <a:cubicBezTo>
                  <a:pt x="8580" y="21127"/>
                  <a:pt x="9759" y="21241"/>
                  <a:pt x="10948" y="21241"/>
                </a:cubicBezTo>
                <a:cubicBezTo>
                  <a:pt x="13167" y="21241"/>
                  <a:pt x="15419" y="20844"/>
                  <a:pt x="17627" y="20511"/>
                </a:cubicBezTo>
                <a:cubicBezTo>
                  <a:pt x="19203" y="20273"/>
                  <a:pt x="20828" y="20074"/>
                  <a:pt x="22428" y="20074"/>
                </a:cubicBezTo>
                <a:cubicBezTo>
                  <a:pt x="24271" y="20074"/>
                  <a:pt x="26081" y="20337"/>
                  <a:pt x="27745" y="21110"/>
                </a:cubicBezTo>
                <a:cubicBezTo>
                  <a:pt x="33061" y="23566"/>
                  <a:pt x="35052" y="30190"/>
                  <a:pt x="39701" y="33752"/>
                </a:cubicBezTo>
                <a:cubicBezTo>
                  <a:pt x="41910" y="35444"/>
                  <a:pt x="44648" y="36246"/>
                  <a:pt x="47416" y="36246"/>
                </a:cubicBezTo>
                <a:cubicBezTo>
                  <a:pt x="51200" y="36246"/>
                  <a:pt x="55039" y="34748"/>
                  <a:pt x="57652" y="31981"/>
                </a:cubicBezTo>
                <a:cubicBezTo>
                  <a:pt x="62178" y="27191"/>
                  <a:pt x="62847" y="19386"/>
                  <a:pt x="59684" y="13605"/>
                </a:cubicBezTo>
                <a:cubicBezTo>
                  <a:pt x="56782" y="8300"/>
                  <a:pt x="51273" y="4893"/>
                  <a:pt x="45592" y="2824"/>
                </a:cubicBezTo>
                <a:cubicBezTo>
                  <a:pt x="40422" y="939"/>
                  <a:pt x="34920" y="1"/>
                  <a:pt x="29418" y="1"/>
                </a:cubicBezTo>
                <a:close/>
              </a:path>
            </a:pathLst>
          </a:custGeom>
          <a:solidFill>
            <a:srgbClr val="69B6DB">
              <a:alpha val="564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2033550" y="3616925"/>
            <a:ext cx="5076900" cy="9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000">
                <a:highlight>
                  <a:schemeClr val="accent1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2" name="Google Shape;122;p23"/>
          <p:cNvSpPr/>
          <p:nvPr/>
        </p:nvSpPr>
        <p:spPr>
          <a:xfrm rot="-750860">
            <a:off x="7387158" y="-1172571"/>
            <a:ext cx="3268103" cy="4867694"/>
          </a:xfrm>
          <a:custGeom>
            <a:rect b="b" l="l" r="r" t="t"/>
            <a:pathLst>
              <a:path extrusionOk="0" h="81010" w="54389">
                <a:moveTo>
                  <a:pt x="21615" y="0"/>
                </a:moveTo>
                <a:cubicBezTo>
                  <a:pt x="15999" y="0"/>
                  <a:pt x="10382" y="2015"/>
                  <a:pt x="6504" y="6040"/>
                </a:cubicBezTo>
                <a:cubicBezTo>
                  <a:pt x="1376" y="11362"/>
                  <a:pt x="1" y="20245"/>
                  <a:pt x="4057" y="26421"/>
                </a:cubicBezTo>
                <a:cubicBezTo>
                  <a:pt x="6300" y="29832"/>
                  <a:pt x="9838" y="32158"/>
                  <a:pt x="13436" y="34079"/>
                </a:cubicBezTo>
                <a:cubicBezTo>
                  <a:pt x="17034" y="35997"/>
                  <a:pt x="20823" y="37630"/>
                  <a:pt x="24070" y="40101"/>
                </a:cubicBezTo>
                <a:cubicBezTo>
                  <a:pt x="27313" y="42574"/>
                  <a:pt x="30035" y="46085"/>
                  <a:pt x="30440" y="50145"/>
                </a:cubicBezTo>
                <a:cubicBezTo>
                  <a:pt x="31079" y="56552"/>
                  <a:pt x="25954" y="62282"/>
                  <a:pt x="25774" y="68722"/>
                </a:cubicBezTo>
                <a:lnTo>
                  <a:pt x="25774" y="68719"/>
                </a:lnTo>
                <a:lnTo>
                  <a:pt x="25774" y="68719"/>
                </a:lnTo>
                <a:cubicBezTo>
                  <a:pt x="25673" y="72213"/>
                  <a:pt x="27287" y="75617"/>
                  <a:pt x="29797" y="78004"/>
                </a:cubicBezTo>
                <a:cubicBezTo>
                  <a:pt x="32020" y="80119"/>
                  <a:pt x="34165" y="81010"/>
                  <a:pt x="36193" y="81010"/>
                </a:cubicBezTo>
                <a:cubicBezTo>
                  <a:pt x="44325" y="81010"/>
                  <a:pt x="50560" y="66685"/>
                  <a:pt x="52307" y="59631"/>
                </a:cubicBezTo>
                <a:cubicBezTo>
                  <a:pt x="54389" y="51220"/>
                  <a:pt x="54131" y="42350"/>
                  <a:pt x="52528" y="33831"/>
                </a:cubicBezTo>
                <a:cubicBezTo>
                  <a:pt x="51159" y="26571"/>
                  <a:pt x="48772" y="19392"/>
                  <a:pt x="44558" y="13320"/>
                </a:cubicBezTo>
                <a:cubicBezTo>
                  <a:pt x="40347" y="7252"/>
                  <a:pt x="34172" y="2348"/>
                  <a:pt x="26985" y="628"/>
                </a:cubicBezTo>
                <a:cubicBezTo>
                  <a:pt x="25234" y="209"/>
                  <a:pt x="23425" y="0"/>
                  <a:pt x="21615" y="0"/>
                </a:cubicBezTo>
                <a:close/>
              </a:path>
            </a:pathLst>
          </a:custGeom>
          <a:solidFill>
            <a:srgbClr val="69B6DB">
              <a:alpha val="564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bg>
      <p:bgPr>
        <a:solidFill>
          <a:schemeClr val="accent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4"/>
          <p:cNvPicPr preferRelativeResize="0"/>
          <p:nvPr/>
        </p:nvPicPr>
        <p:blipFill rotWithShape="1">
          <a:blip r:embed="rId2">
            <a:alphaModFix amt="30000"/>
          </a:blip>
          <a:srcRect b="7833" l="0" r="0" t="7834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4"/>
          <p:cNvSpPr txBox="1"/>
          <p:nvPr>
            <p:ph type="ctrTitle"/>
          </p:nvPr>
        </p:nvSpPr>
        <p:spPr>
          <a:xfrm>
            <a:off x="2841600" y="727988"/>
            <a:ext cx="3460800" cy="97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6" name="Google Shape;126;p24"/>
          <p:cNvSpPr txBox="1"/>
          <p:nvPr>
            <p:ph idx="1" type="subTitle"/>
          </p:nvPr>
        </p:nvSpPr>
        <p:spPr>
          <a:xfrm>
            <a:off x="2841600" y="1629488"/>
            <a:ext cx="3460800" cy="11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7" name="Google Shape;127;p24"/>
          <p:cNvSpPr/>
          <p:nvPr/>
        </p:nvSpPr>
        <p:spPr>
          <a:xfrm rot="-3876320">
            <a:off x="-2719081" y="-341547"/>
            <a:ext cx="5404387" cy="3116801"/>
          </a:xfrm>
          <a:custGeom>
            <a:rect b="b" l="l" r="r" t="t"/>
            <a:pathLst>
              <a:path extrusionOk="0" h="36246" w="62848">
                <a:moveTo>
                  <a:pt x="29418" y="1"/>
                </a:moveTo>
                <a:cubicBezTo>
                  <a:pt x="23186" y="1"/>
                  <a:pt x="16953" y="1205"/>
                  <a:pt x="11200" y="3601"/>
                </a:cubicBezTo>
                <a:cubicBezTo>
                  <a:pt x="6980" y="5358"/>
                  <a:pt x="3402" y="8170"/>
                  <a:pt x="1597" y="12511"/>
                </a:cubicBezTo>
                <a:cubicBezTo>
                  <a:pt x="1" y="16347"/>
                  <a:pt x="3947" y="19935"/>
                  <a:pt x="7422" y="20828"/>
                </a:cubicBezTo>
                <a:cubicBezTo>
                  <a:pt x="8580" y="21127"/>
                  <a:pt x="9759" y="21241"/>
                  <a:pt x="10948" y="21241"/>
                </a:cubicBezTo>
                <a:cubicBezTo>
                  <a:pt x="13167" y="21241"/>
                  <a:pt x="15419" y="20844"/>
                  <a:pt x="17627" y="20511"/>
                </a:cubicBezTo>
                <a:cubicBezTo>
                  <a:pt x="19203" y="20273"/>
                  <a:pt x="20828" y="20074"/>
                  <a:pt x="22428" y="20074"/>
                </a:cubicBezTo>
                <a:cubicBezTo>
                  <a:pt x="24271" y="20074"/>
                  <a:pt x="26081" y="20337"/>
                  <a:pt x="27745" y="21110"/>
                </a:cubicBezTo>
                <a:cubicBezTo>
                  <a:pt x="33061" y="23566"/>
                  <a:pt x="35052" y="30190"/>
                  <a:pt x="39701" y="33752"/>
                </a:cubicBezTo>
                <a:cubicBezTo>
                  <a:pt x="41910" y="35444"/>
                  <a:pt x="44648" y="36246"/>
                  <a:pt x="47416" y="36246"/>
                </a:cubicBezTo>
                <a:cubicBezTo>
                  <a:pt x="51200" y="36246"/>
                  <a:pt x="55039" y="34748"/>
                  <a:pt x="57652" y="31981"/>
                </a:cubicBezTo>
                <a:cubicBezTo>
                  <a:pt x="62178" y="27191"/>
                  <a:pt x="62847" y="19386"/>
                  <a:pt x="59684" y="13605"/>
                </a:cubicBezTo>
                <a:cubicBezTo>
                  <a:pt x="56782" y="8300"/>
                  <a:pt x="51273" y="4893"/>
                  <a:pt x="45592" y="2824"/>
                </a:cubicBezTo>
                <a:cubicBezTo>
                  <a:pt x="40422" y="939"/>
                  <a:pt x="34920" y="1"/>
                  <a:pt x="29418" y="1"/>
                </a:cubicBezTo>
                <a:close/>
              </a:path>
            </a:pathLst>
          </a:custGeom>
          <a:solidFill>
            <a:srgbClr val="1D315A">
              <a:alpha val="3333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4"/>
          <p:cNvSpPr/>
          <p:nvPr/>
        </p:nvSpPr>
        <p:spPr>
          <a:xfrm rot="5257953">
            <a:off x="4977185" y="2589781"/>
            <a:ext cx="4052040" cy="6035333"/>
          </a:xfrm>
          <a:custGeom>
            <a:rect b="b" l="l" r="r" t="t"/>
            <a:pathLst>
              <a:path extrusionOk="0" h="81010" w="54389">
                <a:moveTo>
                  <a:pt x="21615" y="0"/>
                </a:moveTo>
                <a:cubicBezTo>
                  <a:pt x="15999" y="0"/>
                  <a:pt x="10382" y="2015"/>
                  <a:pt x="6504" y="6040"/>
                </a:cubicBezTo>
                <a:cubicBezTo>
                  <a:pt x="1376" y="11362"/>
                  <a:pt x="1" y="20245"/>
                  <a:pt x="4057" y="26421"/>
                </a:cubicBezTo>
                <a:cubicBezTo>
                  <a:pt x="6300" y="29832"/>
                  <a:pt x="9838" y="32158"/>
                  <a:pt x="13436" y="34079"/>
                </a:cubicBezTo>
                <a:cubicBezTo>
                  <a:pt x="17034" y="35997"/>
                  <a:pt x="20823" y="37630"/>
                  <a:pt x="24070" y="40101"/>
                </a:cubicBezTo>
                <a:cubicBezTo>
                  <a:pt x="27313" y="42574"/>
                  <a:pt x="30035" y="46085"/>
                  <a:pt x="30440" y="50145"/>
                </a:cubicBezTo>
                <a:cubicBezTo>
                  <a:pt x="31079" y="56552"/>
                  <a:pt x="25954" y="62282"/>
                  <a:pt x="25774" y="68722"/>
                </a:cubicBezTo>
                <a:lnTo>
                  <a:pt x="25774" y="68719"/>
                </a:lnTo>
                <a:lnTo>
                  <a:pt x="25774" y="68719"/>
                </a:lnTo>
                <a:cubicBezTo>
                  <a:pt x="25673" y="72213"/>
                  <a:pt x="27287" y="75617"/>
                  <a:pt x="29797" y="78004"/>
                </a:cubicBezTo>
                <a:cubicBezTo>
                  <a:pt x="32020" y="80119"/>
                  <a:pt x="34165" y="81010"/>
                  <a:pt x="36193" y="81010"/>
                </a:cubicBezTo>
                <a:cubicBezTo>
                  <a:pt x="44325" y="81010"/>
                  <a:pt x="50560" y="66685"/>
                  <a:pt x="52307" y="59631"/>
                </a:cubicBezTo>
                <a:cubicBezTo>
                  <a:pt x="54389" y="51220"/>
                  <a:pt x="54131" y="42350"/>
                  <a:pt x="52528" y="33831"/>
                </a:cubicBezTo>
                <a:cubicBezTo>
                  <a:pt x="51159" y="26571"/>
                  <a:pt x="48772" y="19392"/>
                  <a:pt x="44558" y="13320"/>
                </a:cubicBezTo>
                <a:cubicBezTo>
                  <a:pt x="40347" y="7252"/>
                  <a:pt x="34172" y="2348"/>
                  <a:pt x="26985" y="628"/>
                </a:cubicBezTo>
                <a:cubicBezTo>
                  <a:pt x="25234" y="209"/>
                  <a:pt x="23425" y="0"/>
                  <a:pt x="21615" y="0"/>
                </a:cubicBezTo>
                <a:close/>
              </a:path>
            </a:pathLst>
          </a:custGeom>
          <a:solidFill>
            <a:srgbClr val="69B6DB">
              <a:alpha val="564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4"/>
          <p:cNvSpPr txBox="1"/>
          <p:nvPr/>
        </p:nvSpPr>
        <p:spPr>
          <a:xfrm>
            <a:off x="2841600" y="3336388"/>
            <a:ext cx="3460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de" sz="10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CREDITS: This presentation template was created by </a:t>
            </a:r>
            <a:r>
              <a:rPr b="1" i="0" lang="de" sz="1000" u="none" cap="none" strike="noStrik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Slidesgo</a:t>
            </a:r>
            <a:r>
              <a:rPr b="0" i="0" lang="de" sz="10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including icons by </a:t>
            </a:r>
            <a:r>
              <a:rPr b="1" i="0" lang="de" sz="1000" u="none" cap="none" strike="noStrik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Flaticon</a:t>
            </a:r>
            <a:r>
              <a:rPr b="0" i="0" lang="de" sz="10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and infographics &amp; images by </a:t>
            </a:r>
            <a:r>
              <a:rPr b="1" i="0" lang="de" sz="1000" u="none" cap="none" strike="noStrik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Freepik</a:t>
            </a:r>
            <a:endParaRPr b="1" i="0" sz="1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">
    <p:bg>
      <p:bgPr>
        <a:solidFill>
          <a:schemeClr val="accen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5"/>
          <p:cNvPicPr preferRelativeResize="0"/>
          <p:nvPr/>
        </p:nvPicPr>
        <p:blipFill rotWithShape="1">
          <a:blip r:embed="rId2">
            <a:alphaModFix amt="30000"/>
          </a:blip>
          <a:srcRect b="7833" l="0" r="0" t="7834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5"/>
          <p:cNvSpPr txBox="1"/>
          <p:nvPr>
            <p:ph type="title"/>
          </p:nvPr>
        </p:nvSpPr>
        <p:spPr>
          <a:xfrm>
            <a:off x="715100" y="535000"/>
            <a:ext cx="77139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  <a:defRPr b="1" sz="3500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  <a:defRPr b="1" sz="3500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  <a:defRPr b="1" sz="3500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  <a:defRPr b="1" sz="3500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  <a:defRPr b="1" sz="3500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  <a:defRPr b="1" sz="3500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  <a:defRPr b="1" sz="3500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  <a:defRPr b="1" sz="3500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  <a:defRPr b="1" sz="3500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9pPr>
          </a:lstStyle>
          <a:p/>
        </p:txBody>
      </p:sp>
      <p:sp>
        <p:nvSpPr>
          <p:cNvPr id="133" name="Google Shape;133;p25"/>
          <p:cNvSpPr/>
          <p:nvPr/>
        </p:nvSpPr>
        <p:spPr>
          <a:xfrm rot="4609377">
            <a:off x="6128124" y="3699591"/>
            <a:ext cx="3268076" cy="4867654"/>
          </a:xfrm>
          <a:custGeom>
            <a:rect b="b" l="l" r="r" t="t"/>
            <a:pathLst>
              <a:path extrusionOk="0" h="81010" w="54389">
                <a:moveTo>
                  <a:pt x="21615" y="0"/>
                </a:moveTo>
                <a:cubicBezTo>
                  <a:pt x="15999" y="0"/>
                  <a:pt x="10382" y="2015"/>
                  <a:pt x="6504" y="6040"/>
                </a:cubicBezTo>
                <a:cubicBezTo>
                  <a:pt x="1376" y="11362"/>
                  <a:pt x="1" y="20245"/>
                  <a:pt x="4057" y="26421"/>
                </a:cubicBezTo>
                <a:cubicBezTo>
                  <a:pt x="6300" y="29832"/>
                  <a:pt x="9838" y="32158"/>
                  <a:pt x="13436" y="34079"/>
                </a:cubicBezTo>
                <a:cubicBezTo>
                  <a:pt x="17034" y="35997"/>
                  <a:pt x="20823" y="37630"/>
                  <a:pt x="24070" y="40101"/>
                </a:cubicBezTo>
                <a:cubicBezTo>
                  <a:pt x="27313" y="42574"/>
                  <a:pt x="30035" y="46085"/>
                  <a:pt x="30440" y="50145"/>
                </a:cubicBezTo>
                <a:cubicBezTo>
                  <a:pt x="31079" y="56552"/>
                  <a:pt x="25954" y="62282"/>
                  <a:pt x="25774" y="68722"/>
                </a:cubicBezTo>
                <a:lnTo>
                  <a:pt x="25774" y="68719"/>
                </a:lnTo>
                <a:lnTo>
                  <a:pt x="25774" y="68719"/>
                </a:lnTo>
                <a:cubicBezTo>
                  <a:pt x="25673" y="72213"/>
                  <a:pt x="27287" y="75617"/>
                  <a:pt x="29797" y="78004"/>
                </a:cubicBezTo>
                <a:cubicBezTo>
                  <a:pt x="32020" y="80119"/>
                  <a:pt x="34165" y="81010"/>
                  <a:pt x="36193" y="81010"/>
                </a:cubicBezTo>
                <a:cubicBezTo>
                  <a:pt x="44325" y="81010"/>
                  <a:pt x="50560" y="66685"/>
                  <a:pt x="52307" y="59631"/>
                </a:cubicBezTo>
                <a:cubicBezTo>
                  <a:pt x="54389" y="51220"/>
                  <a:pt x="54131" y="42350"/>
                  <a:pt x="52528" y="33831"/>
                </a:cubicBezTo>
                <a:cubicBezTo>
                  <a:pt x="51159" y="26571"/>
                  <a:pt x="48772" y="19392"/>
                  <a:pt x="44558" y="13320"/>
                </a:cubicBezTo>
                <a:cubicBezTo>
                  <a:pt x="40347" y="7252"/>
                  <a:pt x="34172" y="2348"/>
                  <a:pt x="26985" y="628"/>
                </a:cubicBezTo>
                <a:cubicBezTo>
                  <a:pt x="25234" y="209"/>
                  <a:pt x="23425" y="0"/>
                  <a:pt x="21615" y="0"/>
                </a:cubicBezTo>
                <a:close/>
              </a:path>
            </a:pathLst>
          </a:custGeom>
          <a:solidFill>
            <a:srgbClr val="1D315A">
              <a:alpha val="3333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6"/>
          <p:cNvPicPr preferRelativeResize="0"/>
          <p:nvPr/>
        </p:nvPicPr>
        <p:blipFill rotWithShape="1">
          <a:blip r:embed="rId2">
            <a:alphaModFix amt="30000"/>
          </a:blip>
          <a:srcRect b="7833" l="0" r="0" t="7834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6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accent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27"/>
          <p:cNvPicPr preferRelativeResize="0"/>
          <p:nvPr/>
        </p:nvPicPr>
        <p:blipFill rotWithShape="1">
          <a:blip r:embed="rId2">
            <a:alphaModFix amt="30000"/>
          </a:blip>
          <a:srcRect b="7833" l="0" r="0" t="7834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7"/>
          <p:cNvSpPr txBox="1"/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0" name="Google Shape;140;p27"/>
          <p:cNvSpPr txBox="1"/>
          <p:nvPr>
            <p:ph idx="1" type="subTitle"/>
          </p:nvPr>
        </p:nvSpPr>
        <p:spPr>
          <a:xfrm>
            <a:off x="2241550" y="1348750"/>
            <a:ext cx="4661100" cy="16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8"/>
          <p:cNvPicPr preferRelativeResize="0"/>
          <p:nvPr/>
        </p:nvPicPr>
        <p:blipFill rotWithShape="1">
          <a:blip r:embed="rId2">
            <a:alphaModFix amt="30000"/>
          </a:blip>
          <a:srcRect b="7833" l="0" r="0" t="7834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8"/>
          <p:cNvSpPr txBox="1"/>
          <p:nvPr>
            <p:ph hasCustomPrompt="1" type="title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44" name="Google Shape;144;p28"/>
          <p:cNvSpPr txBox="1"/>
          <p:nvPr>
            <p:ph idx="1" type="subTitle"/>
          </p:nvPr>
        </p:nvSpPr>
        <p:spPr>
          <a:xfrm>
            <a:off x="1284000" y="3069625"/>
            <a:ext cx="65760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bg>
      <p:bgPr>
        <a:solidFill>
          <a:schemeClr val="accent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30"/>
          <p:cNvPicPr preferRelativeResize="0"/>
          <p:nvPr/>
        </p:nvPicPr>
        <p:blipFill rotWithShape="1">
          <a:blip r:embed="rId2">
            <a:alphaModFix amt="30000"/>
          </a:blip>
          <a:srcRect b="7833" l="0" r="0" t="7834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30"/>
          <p:cNvSpPr/>
          <p:nvPr/>
        </p:nvSpPr>
        <p:spPr>
          <a:xfrm rot="-9846091">
            <a:off x="-2194888" y="2734659"/>
            <a:ext cx="5982903" cy="3450314"/>
          </a:xfrm>
          <a:custGeom>
            <a:rect b="b" l="l" r="r" t="t"/>
            <a:pathLst>
              <a:path extrusionOk="0" h="36246" w="62848">
                <a:moveTo>
                  <a:pt x="29418" y="1"/>
                </a:moveTo>
                <a:cubicBezTo>
                  <a:pt x="23186" y="1"/>
                  <a:pt x="16953" y="1205"/>
                  <a:pt x="11200" y="3601"/>
                </a:cubicBezTo>
                <a:cubicBezTo>
                  <a:pt x="6980" y="5358"/>
                  <a:pt x="3402" y="8170"/>
                  <a:pt x="1597" y="12511"/>
                </a:cubicBezTo>
                <a:cubicBezTo>
                  <a:pt x="1" y="16347"/>
                  <a:pt x="3947" y="19935"/>
                  <a:pt x="7422" y="20828"/>
                </a:cubicBezTo>
                <a:cubicBezTo>
                  <a:pt x="8580" y="21127"/>
                  <a:pt x="9759" y="21241"/>
                  <a:pt x="10948" y="21241"/>
                </a:cubicBezTo>
                <a:cubicBezTo>
                  <a:pt x="13167" y="21241"/>
                  <a:pt x="15419" y="20844"/>
                  <a:pt x="17627" y="20511"/>
                </a:cubicBezTo>
                <a:cubicBezTo>
                  <a:pt x="19203" y="20273"/>
                  <a:pt x="20828" y="20074"/>
                  <a:pt x="22428" y="20074"/>
                </a:cubicBezTo>
                <a:cubicBezTo>
                  <a:pt x="24271" y="20074"/>
                  <a:pt x="26081" y="20337"/>
                  <a:pt x="27745" y="21110"/>
                </a:cubicBezTo>
                <a:cubicBezTo>
                  <a:pt x="33061" y="23566"/>
                  <a:pt x="35052" y="30190"/>
                  <a:pt x="39701" y="33752"/>
                </a:cubicBezTo>
                <a:cubicBezTo>
                  <a:pt x="41910" y="35444"/>
                  <a:pt x="44648" y="36246"/>
                  <a:pt x="47416" y="36246"/>
                </a:cubicBezTo>
                <a:cubicBezTo>
                  <a:pt x="51200" y="36246"/>
                  <a:pt x="55039" y="34748"/>
                  <a:pt x="57652" y="31981"/>
                </a:cubicBezTo>
                <a:cubicBezTo>
                  <a:pt x="62178" y="27191"/>
                  <a:pt x="62847" y="19386"/>
                  <a:pt x="59684" y="13605"/>
                </a:cubicBezTo>
                <a:cubicBezTo>
                  <a:pt x="56782" y="8300"/>
                  <a:pt x="51273" y="4893"/>
                  <a:pt x="45592" y="2824"/>
                </a:cubicBezTo>
                <a:cubicBezTo>
                  <a:pt x="40422" y="939"/>
                  <a:pt x="34920" y="1"/>
                  <a:pt x="29418" y="1"/>
                </a:cubicBezTo>
                <a:close/>
              </a:path>
            </a:pathLst>
          </a:custGeom>
          <a:solidFill>
            <a:srgbClr val="69B6DB">
              <a:alpha val="564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bg>
      <p:bgPr>
        <a:solidFill>
          <a:schemeClr val="accen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31"/>
          <p:cNvPicPr preferRelativeResize="0"/>
          <p:nvPr/>
        </p:nvPicPr>
        <p:blipFill rotWithShape="1">
          <a:blip r:embed="rId2">
            <a:alphaModFix amt="30000"/>
          </a:blip>
          <a:srcRect b="7833" l="0" r="0" t="7834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31"/>
          <p:cNvSpPr/>
          <p:nvPr/>
        </p:nvSpPr>
        <p:spPr>
          <a:xfrm rot="-1300538">
            <a:off x="6814748" y="-1613902"/>
            <a:ext cx="3761270" cy="5602244"/>
          </a:xfrm>
          <a:custGeom>
            <a:rect b="b" l="l" r="r" t="t"/>
            <a:pathLst>
              <a:path extrusionOk="0" h="81010" w="54389">
                <a:moveTo>
                  <a:pt x="21615" y="0"/>
                </a:moveTo>
                <a:cubicBezTo>
                  <a:pt x="15999" y="0"/>
                  <a:pt x="10382" y="2015"/>
                  <a:pt x="6504" y="6040"/>
                </a:cubicBezTo>
                <a:cubicBezTo>
                  <a:pt x="1376" y="11362"/>
                  <a:pt x="1" y="20245"/>
                  <a:pt x="4057" y="26421"/>
                </a:cubicBezTo>
                <a:cubicBezTo>
                  <a:pt x="6300" y="29832"/>
                  <a:pt x="9838" y="32158"/>
                  <a:pt x="13436" y="34079"/>
                </a:cubicBezTo>
                <a:cubicBezTo>
                  <a:pt x="17034" y="35997"/>
                  <a:pt x="20823" y="37630"/>
                  <a:pt x="24070" y="40101"/>
                </a:cubicBezTo>
                <a:cubicBezTo>
                  <a:pt x="27313" y="42574"/>
                  <a:pt x="30035" y="46085"/>
                  <a:pt x="30440" y="50145"/>
                </a:cubicBezTo>
                <a:cubicBezTo>
                  <a:pt x="31079" y="56552"/>
                  <a:pt x="25954" y="62282"/>
                  <a:pt x="25774" y="68722"/>
                </a:cubicBezTo>
                <a:lnTo>
                  <a:pt x="25774" y="68719"/>
                </a:lnTo>
                <a:lnTo>
                  <a:pt x="25774" y="68719"/>
                </a:lnTo>
                <a:cubicBezTo>
                  <a:pt x="25673" y="72213"/>
                  <a:pt x="27287" y="75617"/>
                  <a:pt x="29797" y="78004"/>
                </a:cubicBezTo>
                <a:cubicBezTo>
                  <a:pt x="32020" y="80119"/>
                  <a:pt x="34165" y="81010"/>
                  <a:pt x="36193" y="81010"/>
                </a:cubicBezTo>
                <a:cubicBezTo>
                  <a:pt x="44325" y="81010"/>
                  <a:pt x="50560" y="66685"/>
                  <a:pt x="52307" y="59631"/>
                </a:cubicBezTo>
                <a:cubicBezTo>
                  <a:pt x="54389" y="51220"/>
                  <a:pt x="54131" y="42350"/>
                  <a:pt x="52528" y="33831"/>
                </a:cubicBezTo>
                <a:cubicBezTo>
                  <a:pt x="51159" y="26571"/>
                  <a:pt x="48772" y="19392"/>
                  <a:pt x="44558" y="13320"/>
                </a:cubicBezTo>
                <a:cubicBezTo>
                  <a:pt x="40347" y="7252"/>
                  <a:pt x="34172" y="2348"/>
                  <a:pt x="26985" y="628"/>
                </a:cubicBezTo>
                <a:cubicBezTo>
                  <a:pt x="25234" y="209"/>
                  <a:pt x="23425" y="0"/>
                  <a:pt x="21615" y="0"/>
                </a:cubicBezTo>
                <a:close/>
              </a:path>
            </a:pathLst>
          </a:custGeom>
          <a:solidFill>
            <a:srgbClr val="1D315A">
              <a:alpha val="3333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l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●"/>
              <a:defRPr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2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715100" y="535000"/>
            <a:ext cx="77139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  <a:defRPr b="1" i="0" sz="3500" u="none" cap="none" strike="noStrike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  <a:defRPr b="1" i="0" sz="3500" u="none" cap="none" strike="noStrike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  <a:defRPr b="1" i="0" sz="3500" u="none" cap="none" strike="noStrike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  <a:defRPr b="1" i="0" sz="3500" u="none" cap="none" strike="noStrike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  <a:defRPr b="1" i="0" sz="3500" u="none" cap="none" strike="noStrike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  <a:defRPr b="1" i="0" sz="3500" u="none" cap="none" strike="noStrike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  <a:defRPr b="1" i="0" sz="3500" u="none" cap="none" strike="noStrike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  <a:defRPr b="1" i="0" sz="3500" u="none" cap="none" strike="noStrike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  <a:defRPr b="1" i="0" sz="3500" u="none" cap="none" strike="noStrike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defRPr>
            </a:lvl9pPr>
          </a:lstStyle>
          <a:p/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715100" y="1273300"/>
            <a:ext cx="7713900" cy="3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 Medium"/>
              <a:buChar char="●"/>
              <a:defRPr b="0" i="0" sz="11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 Medium"/>
              <a:buChar char="○"/>
              <a:defRPr b="0" i="0" sz="11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 Medium"/>
              <a:buChar char="■"/>
              <a:defRPr b="0" i="0" sz="11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 Medium"/>
              <a:buChar char="●"/>
              <a:defRPr b="0" i="0" sz="11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 Medium"/>
              <a:buChar char="○"/>
              <a:defRPr b="0" i="0" sz="11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 Medium"/>
              <a:buChar char="■"/>
              <a:defRPr b="0" i="0" sz="11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 Medium"/>
              <a:buChar char="●"/>
              <a:defRPr b="0" i="0" sz="11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 Medium"/>
              <a:buChar char="○"/>
              <a:defRPr b="0" i="0" sz="11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 Medium"/>
              <a:buChar char="■"/>
              <a:defRPr b="0" i="0" sz="11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2"/>
          <p:cNvSpPr txBox="1"/>
          <p:nvPr>
            <p:ph type="ctrTitle"/>
          </p:nvPr>
        </p:nvSpPr>
        <p:spPr>
          <a:xfrm>
            <a:off x="1416450" y="803015"/>
            <a:ext cx="6311100" cy="3283256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de"/>
              <a:t>AUTO ML BEI UNSUPERVISED LEARNING IN DER OUTLIER DETECTION</a:t>
            </a:r>
            <a:endParaRPr/>
          </a:p>
        </p:txBody>
      </p:sp>
      <p:sp>
        <p:nvSpPr>
          <p:cNvPr id="157" name="Google Shape;157;p32"/>
          <p:cNvSpPr txBox="1"/>
          <p:nvPr>
            <p:ph idx="1" type="subTitle"/>
          </p:nvPr>
        </p:nvSpPr>
        <p:spPr>
          <a:xfrm>
            <a:off x="1416450" y="4086271"/>
            <a:ext cx="63111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de"/>
              <a:t>Projekt für Maschinelles Lernen in der Prozessindustrie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de"/>
              <a:t>Isabel Decker, Audrey Komninos, Tom Loleit, Benjamin Saur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3"/>
          <p:cNvSpPr txBox="1"/>
          <p:nvPr>
            <p:ph type="title"/>
          </p:nvPr>
        </p:nvSpPr>
        <p:spPr>
          <a:xfrm>
            <a:off x="715100" y="1646675"/>
            <a:ext cx="25713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de"/>
              <a:t>01</a:t>
            </a:r>
            <a:endParaRPr/>
          </a:p>
        </p:txBody>
      </p:sp>
      <p:sp>
        <p:nvSpPr>
          <p:cNvPr id="163" name="Google Shape;163;p33"/>
          <p:cNvSpPr txBox="1"/>
          <p:nvPr>
            <p:ph idx="2" type="subTitle"/>
          </p:nvPr>
        </p:nvSpPr>
        <p:spPr>
          <a:xfrm>
            <a:off x="715100" y="2183074"/>
            <a:ext cx="25713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de" sz="2000"/>
              <a:t>Was ist AutoML</a:t>
            </a:r>
            <a:endParaRPr sz="2000"/>
          </a:p>
        </p:txBody>
      </p:sp>
      <p:sp>
        <p:nvSpPr>
          <p:cNvPr id="164" name="Google Shape;164;p33"/>
          <p:cNvSpPr txBox="1"/>
          <p:nvPr>
            <p:ph idx="3" type="title"/>
          </p:nvPr>
        </p:nvSpPr>
        <p:spPr>
          <a:xfrm>
            <a:off x="715100" y="535000"/>
            <a:ext cx="7713900" cy="6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de"/>
              <a:t>TABLE OF CONTENTS</a:t>
            </a:r>
            <a:endParaRPr/>
          </a:p>
        </p:txBody>
      </p:sp>
      <p:sp>
        <p:nvSpPr>
          <p:cNvPr id="165" name="Google Shape;165;p33"/>
          <p:cNvSpPr txBox="1"/>
          <p:nvPr>
            <p:ph idx="4" type="title"/>
          </p:nvPr>
        </p:nvSpPr>
        <p:spPr>
          <a:xfrm>
            <a:off x="3286400" y="1646675"/>
            <a:ext cx="25713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de"/>
              <a:t>02</a:t>
            </a:r>
            <a:endParaRPr/>
          </a:p>
        </p:txBody>
      </p:sp>
      <p:sp>
        <p:nvSpPr>
          <p:cNvPr id="166" name="Google Shape;166;p33"/>
          <p:cNvSpPr txBox="1"/>
          <p:nvPr>
            <p:ph idx="6" type="subTitle"/>
          </p:nvPr>
        </p:nvSpPr>
        <p:spPr>
          <a:xfrm>
            <a:off x="3286202" y="2199585"/>
            <a:ext cx="2571300" cy="81453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de" sz="2000"/>
              <a:t>Baseline mittels IForest</a:t>
            </a:r>
            <a:endParaRPr sz="2000"/>
          </a:p>
        </p:txBody>
      </p:sp>
      <p:sp>
        <p:nvSpPr>
          <p:cNvPr id="167" name="Google Shape;167;p33"/>
          <p:cNvSpPr txBox="1"/>
          <p:nvPr>
            <p:ph idx="7" type="title"/>
          </p:nvPr>
        </p:nvSpPr>
        <p:spPr>
          <a:xfrm>
            <a:off x="5857700" y="1646675"/>
            <a:ext cx="25713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de"/>
              <a:t>03</a:t>
            </a:r>
            <a:endParaRPr/>
          </a:p>
        </p:txBody>
      </p:sp>
      <p:sp>
        <p:nvSpPr>
          <p:cNvPr id="168" name="Google Shape;168;p33"/>
          <p:cNvSpPr txBox="1"/>
          <p:nvPr>
            <p:ph idx="9" type="subTitle"/>
          </p:nvPr>
        </p:nvSpPr>
        <p:spPr>
          <a:xfrm>
            <a:off x="5857502" y="2451274"/>
            <a:ext cx="25713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de" sz="2000"/>
              <a:t>Eigene Erstellung AutoML</a:t>
            </a:r>
            <a:endParaRPr sz="2000"/>
          </a:p>
        </p:txBody>
      </p:sp>
      <p:sp>
        <p:nvSpPr>
          <p:cNvPr id="169" name="Google Shape;169;p33"/>
          <p:cNvSpPr txBox="1"/>
          <p:nvPr/>
        </p:nvSpPr>
        <p:spPr>
          <a:xfrm>
            <a:off x="714902" y="3170675"/>
            <a:ext cx="25713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innaker"/>
              <a:buNone/>
            </a:pPr>
            <a:r>
              <a:rPr b="1" i="0" lang="de" sz="2800" u="none" cap="none" strike="noStrike">
                <a:solidFill>
                  <a:schemeClr val="lt1"/>
                </a:solidFill>
                <a:latin typeface="Spinnaker"/>
                <a:ea typeface="Spinnaker"/>
                <a:cs typeface="Spinnaker"/>
                <a:sym typeface="Spinnaker"/>
              </a:rPr>
              <a:t>04</a:t>
            </a:r>
            <a:endParaRPr/>
          </a:p>
        </p:txBody>
      </p:sp>
      <p:sp>
        <p:nvSpPr>
          <p:cNvPr id="170" name="Google Shape;170;p33"/>
          <p:cNvSpPr txBox="1"/>
          <p:nvPr/>
        </p:nvSpPr>
        <p:spPr>
          <a:xfrm>
            <a:off x="714902" y="3707074"/>
            <a:ext cx="25713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</a:pPr>
            <a:r>
              <a:rPr b="1" i="0" lang="de" sz="2000" u="none" cap="none" strike="noStrike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rPr>
              <a:t>Nutzung TapPFN</a:t>
            </a:r>
            <a:endParaRPr b="1" i="0" sz="2000" u="none" cap="none" strike="noStrike">
              <a:solidFill>
                <a:schemeClr val="dk1"/>
              </a:solidFill>
              <a:latin typeface="Spinnaker"/>
              <a:ea typeface="Spinnaker"/>
              <a:cs typeface="Spinnaker"/>
              <a:sym typeface="Spinnaker"/>
            </a:endParaRPr>
          </a:p>
        </p:txBody>
      </p:sp>
      <p:sp>
        <p:nvSpPr>
          <p:cNvPr id="171" name="Google Shape;171;p33"/>
          <p:cNvSpPr txBox="1"/>
          <p:nvPr/>
        </p:nvSpPr>
        <p:spPr>
          <a:xfrm>
            <a:off x="3286202" y="3170675"/>
            <a:ext cx="25713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innaker"/>
              <a:buNone/>
            </a:pPr>
            <a:r>
              <a:rPr b="1" i="0" lang="de" sz="2800" u="none" cap="none" strike="noStrike">
                <a:solidFill>
                  <a:schemeClr val="lt1"/>
                </a:solidFill>
                <a:latin typeface="Spinnaker"/>
                <a:ea typeface="Spinnaker"/>
                <a:cs typeface="Spinnaker"/>
                <a:sym typeface="Spinnaker"/>
              </a:rPr>
              <a:t>05</a:t>
            </a:r>
            <a:endParaRPr/>
          </a:p>
        </p:txBody>
      </p:sp>
      <p:sp>
        <p:nvSpPr>
          <p:cNvPr id="172" name="Google Shape;172;p33"/>
          <p:cNvSpPr txBox="1"/>
          <p:nvPr/>
        </p:nvSpPr>
        <p:spPr>
          <a:xfrm>
            <a:off x="3286004" y="3723585"/>
            <a:ext cx="2571300" cy="81453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</a:pPr>
            <a:r>
              <a:rPr b="1" i="0" lang="de" sz="2000" u="none" cap="none" strike="noStrike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rPr>
              <a:t>Nutzung Meta-Learner</a:t>
            </a:r>
            <a:endParaRPr b="1" i="0" sz="2000" u="none" cap="none" strike="noStrike">
              <a:solidFill>
                <a:schemeClr val="dk1"/>
              </a:solidFill>
              <a:latin typeface="Spinnaker"/>
              <a:ea typeface="Spinnaker"/>
              <a:cs typeface="Spinnaker"/>
              <a:sym typeface="Spinnaker"/>
            </a:endParaRPr>
          </a:p>
        </p:txBody>
      </p:sp>
      <p:sp>
        <p:nvSpPr>
          <p:cNvPr id="173" name="Google Shape;173;p33"/>
          <p:cNvSpPr txBox="1"/>
          <p:nvPr/>
        </p:nvSpPr>
        <p:spPr>
          <a:xfrm>
            <a:off x="5857502" y="3170675"/>
            <a:ext cx="25713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innaker"/>
              <a:buNone/>
            </a:pPr>
            <a:r>
              <a:rPr b="1" i="0" lang="de" sz="2800" u="none" cap="none" strike="noStrike">
                <a:solidFill>
                  <a:schemeClr val="lt1"/>
                </a:solidFill>
                <a:latin typeface="Spinnaker"/>
                <a:ea typeface="Spinnaker"/>
                <a:cs typeface="Spinnaker"/>
                <a:sym typeface="Spinnaker"/>
              </a:rPr>
              <a:t>06</a:t>
            </a:r>
            <a:endParaRPr/>
          </a:p>
        </p:txBody>
      </p:sp>
      <p:sp>
        <p:nvSpPr>
          <p:cNvPr id="174" name="Google Shape;174;p33"/>
          <p:cNvSpPr txBox="1"/>
          <p:nvPr/>
        </p:nvSpPr>
        <p:spPr>
          <a:xfrm>
            <a:off x="5857304" y="3975274"/>
            <a:ext cx="25713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</a:pPr>
            <a:r>
              <a:rPr b="1" i="0" lang="de" sz="2000" u="none" cap="none" strike="noStrike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rPr>
              <a:t>Ergebnisse &amp; Conclusio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4"/>
          <p:cNvSpPr txBox="1"/>
          <p:nvPr>
            <p:ph type="title"/>
          </p:nvPr>
        </p:nvSpPr>
        <p:spPr>
          <a:xfrm>
            <a:off x="716400" y="2260050"/>
            <a:ext cx="7711200" cy="87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de" sz="4800"/>
              <a:t>Was ist AutoML</a:t>
            </a:r>
            <a:endParaRPr/>
          </a:p>
        </p:txBody>
      </p:sp>
      <p:sp>
        <p:nvSpPr>
          <p:cNvPr id="180" name="Google Shape;180;p34"/>
          <p:cNvSpPr txBox="1"/>
          <p:nvPr>
            <p:ph idx="2" type="title"/>
          </p:nvPr>
        </p:nvSpPr>
        <p:spPr>
          <a:xfrm>
            <a:off x="716400" y="1380450"/>
            <a:ext cx="7711200" cy="8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de"/>
              <a:t>01</a:t>
            </a:r>
            <a:endParaRPr/>
          </a:p>
        </p:txBody>
      </p:sp>
      <p:sp>
        <p:nvSpPr>
          <p:cNvPr id="181" name="Google Shape;181;p34"/>
          <p:cNvSpPr txBox="1"/>
          <p:nvPr>
            <p:ph idx="1" type="subTitle"/>
          </p:nvPr>
        </p:nvSpPr>
        <p:spPr>
          <a:xfrm>
            <a:off x="716400" y="3063450"/>
            <a:ext cx="7711200" cy="3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de"/>
              <a:t>Erklärung und Motivation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5"/>
          <p:cNvSpPr txBox="1"/>
          <p:nvPr>
            <p:ph type="title"/>
          </p:nvPr>
        </p:nvSpPr>
        <p:spPr>
          <a:xfrm>
            <a:off x="636600" y="1876600"/>
            <a:ext cx="7870800" cy="30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de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AutoML (Automated Machine Learning) bezeichnet die Automatisierung von Schritten im Machine-Learning-Prozess, die normalerweise manuell durchgeführt werden müssen.</a:t>
            </a:r>
            <a:endParaRPr b="0"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de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Ziel:</a:t>
            </a:r>
            <a:endParaRPr b="0"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de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Auswahl der besten Hyperparameter für ein Modell für einen bestimmten Datensatz</a:t>
            </a:r>
            <a:endParaRPr b="0"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187" name="Google Shape;187;p35"/>
          <p:cNvSpPr txBox="1"/>
          <p:nvPr>
            <p:ph idx="2" type="title"/>
          </p:nvPr>
        </p:nvSpPr>
        <p:spPr>
          <a:xfrm>
            <a:off x="716400" y="256550"/>
            <a:ext cx="7711200" cy="87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4800">
                <a:solidFill>
                  <a:schemeClr val="dk1"/>
                </a:solidFill>
              </a:rPr>
              <a:t>AutoML</a:t>
            </a:r>
            <a:endParaRPr sz="4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6"/>
          <p:cNvSpPr txBox="1"/>
          <p:nvPr>
            <p:ph type="title"/>
          </p:nvPr>
        </p:nvSpPr>
        <p:spPr>
          <a:xfrm>
            <a:off x="716400" y="1784025"/>
            <a:ext cx="7711200" cy="174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●"/>
            </a:pPr>
            <a:r>
              <a:rPr b="0" lang="de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große Auswahl an Modellen</a:t>
            </a:r>
            <a:endParaRPr b="0"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●"/>
            </a:pPr>
            <a:r>
              <a:rPr b="0" lang="de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Kein Expertenwissen nötig</a:t>
            </a:r>
            <a:endParaRPr b="0"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●"/>
            </a:pPr>
            <a:r>
              <a:rPr b="0" lang="de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Concept Drift : Änderung des Normalverhaltens</a:t>
            </a:r>
            <a:endParaRPr b="0"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●"/>
            </a:pPr>
            <a:r>
              <a:rPr b="0" lang="de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Sehr gut </a:t>
            </a:r>
            <a:r>
              <a:rPr b="0" lang="de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Skalierbar</a:t>
            </a:r>
            <a:r>
              <a:rPr b="0" lang="de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auf andere Datenquellen</a:t>
            </a:r>
            <a:endParaRPr b="0"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3" name="Google Shape;193;p36"/>
          <p:cNvSpPr txBox="1"/>
          <p:nvPr>
            <p:ph idx="2" type="title"/>
          </p:nvPr>
        </p:nvSpPr>
        <p:spPr>
          <a:xfrm>
            <a:off x="283625" y="335875"/>
            <a:ext cx="8368800" cy="87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4800">
                <a:solidFill>
                  <a:schemeClr val="dk1"/>
                </a:solidFill>
              </a:rPr>
              <a:t>Warum AutoML für </a:t>
            </a:r>
            <a:r>
              <a:rPr lang="de" sz="4800">
                <a:solidFill>
                  <a:schemeClr val="dk1"/>
                </a:solidFill>
              </a:rPr>
              <a:t>Anomalieerkennung</a:t>
            </a:r>
            <a:endParaRPr sz="4800">
              <a:solidFill>
                <a:schemeClr val="dk1"/>
              </a:solidFill>
            </a:endParaRPr>
          </a:p>
        </p:txBody>
      </p:sp>
      <p:sp>
        <p:nvSpPr>
          <p:cNvPr id="194" name="Google Shape;194;p36"/>
          <p:cNvSpPr txBox="1"/>
          <p:nvPr>
            <p:ph idx="1" type="subTitle"/>
          </p:nvPr>
        </p:nvSpPr>
        <p:spPr>
          <a:xfrm>
            <a:off x="716400" y="4279925"/>
            <a:ext cx="7711200" cy="38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7"/>
          <p:cNvSpPr txBox="1"/>
          <p:nvPr>
            <p:ph type="title"/>
          </p:nvPr>
        </p:nvSpPr>
        <p:spPr>
          <a:xfrm>
            <a:off x="716400" y="1585350"/>
            <a:ext cx="7711200" cy="318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●"/>
            </a:pPr>
            <a:r>
              <a:rPr b="0" lang="de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Erstellung einer Baseline als Referenz</a:t>
            </a:r>
            <a:endParaRPr b="0"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●"/>
            </a:pPr>
            <a:r>
              <a:rPr b="0" lang="de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Folgende Methoden:</a:t>
            </a:r>
            <a:endParaRPr b="0"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○"/>
            </a:pPr>
            <a:r>
              <a:rPr b="0" lang="de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Eigener AutoML Ansatz</a:t>
            </a:r>
            <a:endParaRPr b="0"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○"/>
            </a:pPr>
            <a:r>
              <a:rPr b="0" lang="de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TabPFN</a:t>
            </a:r>
            <a:endParaRPr b="0"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○"/>
            </a:pPr>
            <a:r>
              <a:rPr b="0" lang="de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Meta </a:t>
            </a:r>
            <a:r>
              <a:rPr b="0" lang="de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Learning</a:t>
            </a:r>
            <a:r>
              <a:rPr b="0" lang="de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(MetaOD)</a:t>
            </a:r>
            <a:endParaRPr b="0"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●"/>
            </a:pPr>
            <a:r>
              <a:rPr b="0" lang="de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Evaluation aller Methoden</a:t>
            </a:r>
            <a:endParaRPr b="0"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chemeClr val="lt1"/>
              </a:solidFill>
            </a:endParaRPr>
          </a:p>
        </p:txBody>
      </p:sp>
      <p:sp>
        <p:nvSpPr>
          <p:cNvPr id="200" name="Google Shape;200;p37"/>
          <p:cNvSpPr txBox="1"/>
          <p:nvPr>
            <p:ph idx="2" type="title"/>
          </p:nvPr>
        </p:nvSpPr>
        <p:spPr>
          <a:xfrm>
            <a:off x="716400" y="375550"/>
            <a:ext cx="7711200" cy="87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4800">
                <a:solidFill>
                  <a:schemeClr val="dk1"/>
                </a:solidFill>
              </a:rPr>
              <a:t>Unser Vorgehen</a:t>
            </a:r>
            <a:endParaRPr sz="4800">
              <a:solidFill>
                <a:schemeClr val="dk1"/>
              </a:solidFill>
            </a:endParaRPr>
          </a:p>
        </p:txBody>
      </p:sp>
      <p:sp>
        <p:nvSpPr>
          <p:cNvPr id="201" name="Google Shape;201;p37"/>
          <p:cNvSpPr txBox="1"/>
          <p:nvPr>
            <p:ph idx="1" type="subTitle"/>
          </p:nvPr>
        </p:nvSpPr>
        <p:spPr>
          <a:xfrm>
            <a:off x="716400" y="3063450"/>
            <a:ext cx="7711200" cy="38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8"/>
          <p:cNvSpPr txBox="1"/>
          <p:nvPr>
            <p:ph type="title"/>
          </p:nvPr>
        </p:nvSpPr>
        <p:spPr>
          <a:xfrm>
            <a:off x="716400" y="2260050"/>
            <a:ext cx="7711200" cy="87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de" sz="4800"/>
              <a:t>Baseline mittels IForest</a:t>
            </a:r>
            <a:endParaRPr sz="4800"/>
          </a:p>
        </p:txBody>
      </p:sp>
      <p:sp>
        <p:nvSpPr>
          <p:cNvPr id="207" name="Google Shape;207;p38"/>
          <p:cNvSpPr txBox="1"/>
          <p:nvPr>
            <p:ph idx="2" type="title"/>
          </p:nvPr>
        </p:nvSpPr>
        <p:spPr>
          <a:xfrm>
            <a:off x="716400" y="1380450"/>
            <a:ext cx="7711200" cy="8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de"/>
              <a:t>02</a:t>
            </a:r>
            <a:endParaRPr/>
          </a:p>
        </p:txBody>
      </p:sp>
      <p:sp>
        <p:nvSpPr>
          <p:cNvPr id="208" name="Google Shape;208;p38"/>
          <p:cNvSpPr txBox="1"/>
          <p:nvPr>
            <p:ph idx="1" type="subTitle"/>
          </p:nvPr>
        </p:nvSpPr>
        <p:spPr>
          <a:xfrm>
            <a:off x="716400" y="3063450"/>
            <a:ext cx="7711200" cy="3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de"/>
              <a:t>Zweck und Aufbau der Baseline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9"/>
          <p:cNvSpPr txBox="1"/>
          <p:nvPr>
            <p:ph type="title"/>
          </p:nvPr>
        </p:nvSpPr>
        <p:spPr>
          <a:xfrm>
            <a:off x="716400" y="1677925"/>
            <a:ext cx="8029500" cy="304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●"/>
            </a:pPr>
            <a:r>
              <a:rPr b="0" lang="de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Erstellung von einem Referenzpunkt</a:t>
            </a:r>
            <a:endParaRPr b="0"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●"/>
            </a:pPr>
            <a:r>
              <a:rPr b="0" lang="de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Zweck ist am Ende einen Vergleichspunkt zu haben</a:t>
            </a:r>
            <a:endParaRPr b="0"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●"/>
            </a:pPr>
            <a:r>
              <a:rPr b="0" lang="de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Bewertung der AutoML Modelle gegenüber Baseline</a:t>
            </a:r>
            <a:endParaRPr b="0"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214" name="Google Shape;214;p39"/>
          <p:cNvSpPr txBox="1"/>
          <p:nvPr>
            <p:ph idx="2" type="title"/>
          </p:nvPr>
        </p:nvSpPr>
        <p:spPr>
          <a:xfrm>
            <a:off x="716400" y="388775"/>
            <a:ext cx="7711200" cy="87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chemeClr val="dk1"/>
                </a:solidFill>
              </a:rPr>
              <a:t>Baseline IForest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0"/>
          <p:cNvSpPr txBox="1"/>
          <p:nvPr>
            <p:ph type="title"/>
          </p:nvPr>
        </p:nvSpPr>
        <p:spPr>
          <a:xfrm>
            <a:off x="716400" y="2260050"/>
            <a:ext cx="7711200" cy="87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40"/>
          <p:cNvSpPr txBox="1"/>
          <p:nvPr>
            <p:ph idx="2" type="title"/>
          </p:nvPr>
        </p:nvSpPr>
        <p:spPr>
          <a:xfrm>
            <a:off x="716400" y="560675"/>
            <a:ext cx="7711200" cy="87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Ergebnisse Baseline</a:t>
            </a:r>
            <a:endParaRPr/>
          </a:p>
        </p:txBody>
      </p:sp>
      <p:sp>
        <p:nvSpPr>
          <p:cNvPr id="221" name="Google Shape;221;p40"/>
          <p:cNvSpPr txBox="1"/>
          <p:nvPr>
            <p:ph idx="1" type="subTitle"/>
          </p:nvPr>
        </p:nvSpPr>
        <p:spPr>
          <a:xfrm>
            <a:off x="716400" y="3063450"/>
            <a:ext cx="7711200" cy="38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2" name="Google Shape;22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5950" y="1440287"/>
            <a:ext cx="6218140" cy="3703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1"/>
          <p:cNvSpPr txBox="1"/>
          <p:nvPr>
            <p:ph type="title"/>
          </p:nvPr>
        </p:nvSpPr>
        <p:spPr>
          <a:xfrm>
            <a:off x="716400" y="2722350"/>
            <a:ext cx="7711200" cy="87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de" sz="4800"/>
              <a:t>Eigene Erstellung AutoML</a:t>
            </a:r>
            <a:endParaRPr sz="4800"/>
          </a:p>
        </p:txBody>
      </p:sp>
      <p:sp>
        <p:nvSpPr>
          <p:cNvPr id="228" name="Google Shape;228;p41"/>
          <p:cNvSpPr txBox="1"/>
          <p:nvPr>
            <p:ph idx="2" type="title"/>
          </p:nvPr>
        </p:nvSpPr>
        <p:spPr>
          <a:xfrm>
            <a:off x="658475" y="1241450"/>
            <a:ext cx="7711200" cy="8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de"/>
              <a:t>03</a:t>
            </a:r>
            <a:endParaRPr/>
          </a:p>
        </p:txBody>
      </p:sp>
      <p:sp>
        <p:nvSpPr>
          <p:cNvPr id="229" name="Google Shape;229;p41"/>
          <p:cNvSpPr txBox="1"/>
          <p:nvPr>
            <p:ph idx="1" type="subTitle"/>
          </p:nvPr>
        </p:nvSpPr>
        <p:spPr>
          <a:xfrm>
            <a:off x="762750" y="3434150"/>
            <a:ext cx="7711200" cy="3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de"/>
              <a:t>Erklärung, Aufbau, Vorgehen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2"/>
          <p:cNvSpPr txBox="1"/>
          <p:nvPr>
            <p:ph idx="3" type="subTitle"/>
          </p:nvPr>
        </p:nvSpPr>
        <p:spPr>
          <a:xfrm>
            <a:off x="715100" y="1795600"/>
            <a:ext cx="7713900" cy="27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300">
                <a:latin typeface="Montserrat"/>
                <a:ea typeface="Montserrat"/>
                <a:cs typeface="Montserrat"/>
                <a:sym typeface="Montserrat"/>
              </a:rPr>
              <a:t>Ziel der Methodik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Ziel ist die </a:t>
            </a:r>
            <a:r>
              <a:rPr b="1" lang="de" sz="1300">
                <a:latin typeface="Montserrat"/>
                <a:ea typeface="Montserrat"/>
                <a:cs typeface="Montserrat"/>
                <a:sym typeface="Montserrat"/>
              </a:rPr>
              <a:t>frühe Erkennung von Abweichungen</a:t>
            </a: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 vom normalen Prozessverlauf eines industriellen Batch-Prozesses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Es wird </a:t>
            </a:r>
            <a:r>
              <a:rPr b="1" lang="de" sz="1300">
                <a:latin typeface="Montserrat"/>
                <a:ea typeface="Montserrat"/>
                <a:cs typeface="Montserrat"/>
                <a:sym typeface="Montserrat"/>
              </a:rPr>
              <a:t>kein expliziter Fehlertyp</a:t>
            </a: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 vorhergesagt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Stattdessen erfolgt eine </a:t>
            </a:r>
            <a:r>
              <a:rPr b="1" lang="de" sz="1300">
                <a:latin typeface="Montserrat"/>
                <a:ea typeface="Montserrat"/>
                <a:cs typeface="Montserrat"/>
                <a:sym typeface="Montserrat"/>
              </a:rPr>
              <a:t>binäre Bewertung jedes Datenpunkts</a:t>
            </a: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gehört zum gelernten Normalbetrieb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oder stellt eine Abweichung (Anomalie) dar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5" name="Google Shape;235;p42"/>
          <p:cNvSpPr txBox="1"/>
          <p:nvPr>
            <p:ph type="title"/>
          </p:nvPr>
        </p:nvSpPr>
        <p:spPr>
          <a:xfrm>
            <a:off x="715100" y="535000"/>
            <a:ext cx="77139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de"/>
              <a:t>Methodik - Semi supervised Anomalieerkennung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3"/>
          <p:cNvSpPr txBox="1"/>
          <p:nvPr>
            <p:ph idx="3" type="subTitle"/>
          </p:nvPr>
        </p:nvSpPr>
        <p:spPr>
          <a:xfrm>
            <a:off x="715100" y="1795600"/>
            <a:ext cx="7713900" cy="31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 sz="1300">
                <a:latin typeface="Montserrat"/>
                <a:ea typeface="Montserrat"/>
                <a:cs typeface="Montserrat"/>
                <a:sym typeface="Montserrat"/>
              </a:rPr>
              <a:t>Kernidee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Das Modell lernt ausschließlich aus </a:t>
            </a:r>
            <a:r>
              <a:rPr b="1" lang="de" sz="1300">
                <a:latin typeface="Montserrat"/>
                <a:ea typeface="Montserrat"/>
                <a:cs typeface="Montserrat"/>
                <a:sym typeface="Montserrat"/>
              </a:rPr>
              <a:t>fehlerfreien („guten“) Prozessdaten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Fehlerhafte Zustände werden nicht zum Lernen verwendet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Anomalien werden als </a:t>
            </a:r>
            <a:r>
              <a:rPr b="1" lang="de" sz="1300">
                <a:latin typeface="Montserrat"/>
                <a:ea typeface="Montserrat"/>
                <a:cs typeface="Montserrat"/>
                <a:sym typeface="Montserrat"/>
              </a:rPr>
              <a:t>statistische oder strukturelle Abweichungen</a:t>
            </a: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 vom Normalverhalten interpretiert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 sz="1300">
                <a:latin typeface="Montserrat"/>
                <a:ea typeface="Montserrat"/>
                <a:cs typeface="Montserrat"/>
                <a:sym typeface="Montserrat"/>
              </a:rPr>
              <a:t>Motivation für den Ansatz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In realen Prozessdaten sind Fehler: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○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selten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○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unvollständig gelabelt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○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oft nicht eindeutig klassifizierbar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Normalbetrieb ist dagegen gut dokumentiert und stabil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p43"/>
          <p:cNvSpPr txBox="1"/>
          <p:nvPr>
            <p:ph type="title"/>
          </p:nvPr>
        </p:nvSpPr>
        <p:spPr>
          <a:xfrm>
            <a:off x="715100" y="535000"/>
            <a:ext cx="77139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de"/>
              <a:t>Methodik - Semi supervised Anomalieerkennung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4"/>
          <p:cNvSpPr txBox="1"/>
          <p:nvPr>
            <p:ph idx="3" type="subTitle"/>
          </p:nvPr>
        </p:nvSpPr>
        <p:spPr>
          <a:xfrm>
            <a:off x="715100" y="1795600"/>
            <a:ext cx="7713900" cy="31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 sz="1500">
                <a:latin typeface="Montserrat"/>
                <a:ea typeface="Montserrat"/>
                <a:cs typeface="Montserrat"/>
                <a:sym typeface="Montserrat"/>
              </a:rPr>
              <a:t>Kurz:</a:t>
            </a:r>
            <a:endParaRPr b="1"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 sz="1500">
                <a:latin typeface="Montserrat"/>
                <a:ea typeface="Montserrat"/>
                <a:cs typeface="Montserrat"/>
                <a:sym typeface="Montserrat"/>
              </a:rPr>
              <a:t>Das Modell lernt, wie „normal“ aussieht – alles andere gilt als Anomalie.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p44"/>
          <p:cNvSpPr txBox="1"/>
          <p:nvPr>
            <p:ph type="title"/>
          </p:nvPr>
        </p:nvSpPr>
        <p:spPr>
          <a:xfrm>
            <a:off x="715100" y="535000"/>
            <a:ext cx="77139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de"/>
              <a:t>Methodik - Semi supervised Anomalieerkennung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5"/>
          <p:cNvSpPr txBox="1"/>
          <p:nvPr>
            <p:ph idx="3" type="subTitle"/>
          </p:nvPr>
        </p:nvSpPr>
        <p:spPr>
          <a:xfrm>
            <a:off x="715050" y="1482825"/>
            <a:ext cx="7713900" cy="34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 sz="1300">
                <a:latin typeface="Montserrat"/>
                <a:ea typeface="Montserrat"/>
                <a:cs typeface="Montserrat"/>
                <a:sym typeface="Montserrat"/>
              </a:rPr>
              <a:t>Train (80 %)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Nur Normaldaten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Lernen des Normalverhaltens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 sz="1300">
                <a:latin typeface="Montserrat"/>
                <a:ea typeface="Montserrat"/>
                <a:cs typeface="Montserrat"/>
                <a:sym typeface="Montserrat"/>
              </a:rPr>
              <a:t>Validation (10 %)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Normal + Anomalien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Hyperparameter- &amp; Threshold-Optimierung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 sz="1300">
                <a:latin typeface="Montserrat"/>
                <a:ea typeface="Montserrat"/>
                <a:cs typeface="Montserrat"/>
                <a:sym typeface="Montserrat"/>
              </a:rPr>
              <a:t>Test (10 %)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Normal + Anomalien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Unabhängige Bewertung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 sz="1700">
                <a:latin typeface="Montserrat"/>
                <a:ea typeface="Montserrat"/>
                <a:cs typeface="Montserrat"/>
                <a:sym typeface="Montserrat"/>
              </a:rPr>
              <a:t>→ </a:t>
            </a:r>
            <a:r>
              <a:rPr b="1" lang="de" sz="1300">
                <a:latin typeface="Montserrat"/>
                <a:ea typeface="Montserrat"/>
                <a:cs typeface="Montserrat"/>
                <a:sym typeface="Montserrat"/>
              </a:rPr>
              <a:t>Zeitbasierter Split zur </a:t>
            </a:r>
            <a:r>
              <a:rPr b="1" lang="de" sz="1300">
                <a:latin typeface="Montserrat"/>
                <a:ea typeface="Montserrat"/>
                <a:cs typeface="Montserrat"/>
                <a:sym typeface="Montserrat"/>
              </a:rPr>
              <a:t>Vermeidung</a:t>
            </a:r>
            <a:r>
              <a:rPr b="1" lang="de" sz="1300">
                <a:latin typeface="Montserrat"/>
                <a:ea typeface="Montserrat"/>
                <a:cs typeface="Montserrat"/>
                <a:sym typeface="Montserrat"/>
              </a:rPr>
              <a:t> von Data Leakage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3" name="Google Shape;253;p45"/>
          <p:cNvSpPr txBox="1"/>
          <p:nvPr>
            <p:ph type="title"/>
          </p:nvPr>
        </p:nvSpPr>
        <p:spPr>
          <a:xfrm>
            <a:off x="715100" y="535000"/>
            <a:ext cx="77139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de"/>
              <a:t>Datensplit</a:t>
            </a:r>
            <a:r>
              <a:rPr lang="de"/>
              <a:t> (80/10/10)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6"/>
          <p:cNvSpPr txBox="1"/>
          <p:nvPr>
            <p:ph idx="3" type="subTitle"/>
          </p:nvPr>
        </p:nvSpPr>
        <p:spPr>
          <a:xfrm>
            <a:off x="715050" y="1482825"/>
            <a:ext cx="7713900" cy="34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 sz="1300">
                <a:latin typeface="Montserrat"/>
                <a:ea typeface="Montserrat"/>
                <a:cs typeface="Montserrat"/>
                <a:sym typeface="Montserrat"/>
              </a:rPr>
              <a:t>Daten &amp; Vorverarbeitung: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Nutzung ausschließlich </a:t>
            </a:r>
            <a:r>
              <a:rPr b="1" lang="de" sz="1300">
                <a:latin typeface="Montserrat"/>
                <a:ea typeface="Montserrat"/>
                <a:cs typeface="Montserrat"/>
                <a:sym typeface="Montserrat"/>
              </a:rPr>
              <a:t>numerischer Sensorsignale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Entfernung von Metadaten (timestamp, DeviationID)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0EAF1"/>
              </a:buClr>
              <a:buSzPts val="1300"/>
              <a:buFont typeface="Montserrat"/>
              <a:buChar char="●"/>
            </a:pPr>
            <a:r>
              <a:t/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●"/>
            </a:pPr>
            <a:r>
              <a:rPr b="1" lang="de" sz="1300">
                <a:latin typeface="Montserrat"/>
                <a:ea typeface="Montserrat"/>
                <a:cs typeface="Montserrat"/>
                <a:sym typeface="Montserrat"/>
              </a:rPr>
              <a:t>RobustScaler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○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skaliert Features anhand </a:t>
            </a:r>
            <a:r>
              <a:rPr b="1" lang="de" sz="1300">
                <a:latin typeface="Montserrat"/>
                <a:ea typeface="Montserrat"/>
                <a:cs typeface="Montserrat"/>
                <a:sym typeface="Montserrat"/>
              </a:rPr>
              <a:t>Median und Interquartilsabstand (IQR)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○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reduziert den Einfluss von Ausreißern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○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besonders geeignet für verrauschte industrielle Prozessdaten</a:t>
            </a:r>
            <a:br>
              <a:rPr lang="de" sz="1300">
                <a:latin typeface="Montserrat"/>
                <a:ea typeface="Montserrat"/>
                <a:cs typeface="Montserrat"/>
                <a:sym typeface="Montserrat"/>
              </a:rPr>
            </a:b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●"/>
            </a:pPr>
            <a:r>
              <a:rPr b="1" lang="de" sz="1300">
                <a:latin typeface="Montserrat"/>
                <a:ea typeface="Montserrat"/>
                <a:cs typeface="Montserrat"/>
                <a:sym typeface="Montserrat"/>
              </a:rPr>
              <a:t>Skalierung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○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Scaler wird </a:t>
            </a:r>
            <a:r>
              <a:rPr b="1" lang="de" sz="1300">
                <a:latin typeface="Montserrat"/>
                <a:ea typeface="Montserrat"/>
                <a:cs typeface="Montserrat"/>
                <a:sym typeface="Montserrat"/>
              </a:rPr>
              <a:t>nur auf Trainingsdaten gefittet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○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Validation- und Testdaten werden mit denselben Parametern transformiert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○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verhindert Data Leakage und stellt Vergleichbarkeit sicher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9" name="Google Shape;259;p46"/>
          <p:cNvSpPr txBox="1"/>
          <p:nvPr>
            <p:ph type="title"/>
          </p:nvPr>
        </p:nvSpPr>
        <p:spPr>
          <a:xfrm>
            <a:off x="715100" y="535000"/>
            <a:ext cx="77139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de"/>
              <a:t>Feature Engineering &amp; Skalierung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7"/>
          <p:cNvSpPr txBox="1"/>
          <p:nvPr>
            <p:ph idx="3" type="subTitle"/>
          </p:nvPr>
        </p:nvSpPr>
        <p:spPr>
          <a:xfrm>
            <a:off x="715050" y="1378550"/>
            <a:ext cx="7713900" cy="3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 sz="1300">
                <a:latin typeface="Montserrat"/>
                <a:ea typeface="Montserrat"/>
                <a:cs typeface="Montserrat"/>
                <a:sym typeface="Montserrat"/>
              </a:rPr>
              <a:t>Z-Score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univariat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statistische Baseline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 sz="1300">
                <a:latin typeface="Montserrat"/>
                <a:ea typeface="Montserrat"/>
                <a:cs typeface="Montserrat"/>
                <a:sym typeface="Montserrat"/>
              </a:rPr>
              <a:t>Isolation Forest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baum basiert</a:t>
            </a: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, multivariat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isoliert Ausreißer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 sz="1300">
                <a:latin typeface="Montserrat"/>
                <a:ea typeface="Montserrat"/>
                <a:cs typeface="Montserrat"/>
                <a:sym typeface="Montserrat"/>
              </a:rPr>
              <a:t>One-Class SVM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lernt Entscheidungsgrenze des Normalraums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 sz="1300">
                <a:latin typeface="Montserrat"/>
                <a:ea typeface="Montserrat"/>
                <a:cs typeface="Montserrat"/>
                <a:sym typeface="Montserrat"/>
              </a:rPr>
              <a:t>Self-Organizing Map (SOM)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neuronales Clustering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5" name="Google Shape;265;p47"/>
          <p:cNvSpPr txBox="1"/>
          <p:nvPr>
            <p:ph type="title"/>
          </p:nvPr>
        </p:nvSpPr>
        <p:spPr>
          <a:xfrm>
            <a:off x="715100" y="535000"/>
            <a:ext cx="77139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de"/>
              <a:t>Anomalieerkennungsmodelle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8"/>
          <p:cNvSpPr txBox="1"/>
          <p:nvPr>
            <p:ph idx="3" type="subTitle"/>
          </p:nvPr>
        </p:nvSpPr>
        <p:spPr>
          <a:xfrm>
            <a:off x="715050" y="1378550"/>
            <a:ext cx="7713900" cy="3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Kein fester Threshold  für den Anomalie-Score vorgegeben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ontserrat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Der Anomalie-Score ist modell- und datensatz abhängig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ontserrat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Ein fester Grenzwert wäre willkürlich und nicht robust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ontserrat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Der Threshold wird daher datengetrieben bestimmt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Vorgehen: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Mögliche Thresholds werden aus hohen Quantilen der Anomalie-Scores abgeleitet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Jeder Threshold wird auf dem Validierungsdatensatz getestet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Gewählt wird der Threshold mit dem höchsten F1-Score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p48"/>
          <p:cNvSpPr txBox="1"/>
          <p:nvPr>
            <p:ph type="title"/>
          </p:nvPr>
        </p:nvSpPr>
        <p:spPr>
          <a:xfrm>
            <a:off x="715100" y="535000"/>
            <a:ext cx="77139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de"/>
              <a:t>Schwellwert-Optimierung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9"/>
          <p:cNvSpPr txBox="1"/>
          <p:nvPr>
            <p:ph idx="3" type="subTitle"/>
          </p:nvPr>
        </p:nvSpPr>
        <p:spPr>
          <a:xfrm>
            <a:off x="715050" y="1378550"/>
            <a:ext cx="7713900" cy="3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 sz="1300">
                <a:latin typeface="Montserrat"/>
                <a:ea typeface="Montserrat"/>
                <a:cs typeface="Montserrat"/>
                <a:sym typeface="Montserrat"/>
              </a:rPr>
              <a:t>Auf was optimieren wir und warum?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Optuna maximiert den </a:t>
            </a:r>
            <a:r>
              <a:rPr b="1" lang="de" sz="1300">
                <a:latin typeface="Montserrat"/>
                <a:ea typeface="Montserrat"/>
                <a:cs typeface="Montserrat"/>
                <a:sym typeface="Montserrat"/>
              </a:rPr>
              <a:t>F1-Score auf dem Validation-Set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F1 ist gewählt, weil: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○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Datensatz ist </a:t>
            </a:r>
            <a:r>
              <a:rPr b="1" lang="de" sz="1300">
                <a:latin typeface="Montserrat"/>
                <a:ea typeface="Montserrat"/>
                <a:cs typeface="Montserrat"/>
                <a:sym typeface="Montserrat"/>
              </a:rPr>
              <a:t>unausgeglichen</a:t>
            </a: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 (typisch in Anomalieerkennung)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○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Accuracy wäre irreführend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○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F1 balanciert </a:t>
            </a:r>
            <a:r>
              <a:rPr b="1" lang="de" sz="1300">
                <a:latin typeface="Montserrat"/>
                <a:ea typeface="Montserrat"/>
                <a:cs typeface="Montserrat"/>
                <a:sym typeface="Montserrat"/>
              </a:rPr>
              <a:t>Recall</a:t>
            </a: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 (Anomalien finden) und </a:t>
            </a:r>
            <a:r>
              <a:rPr b="1" lang="de" sz="1300">
                <a:latin typeface="Montserrat"/>
                <a:ea typeface="Montserrat"/>
                <a:cs typeface="Montserrat"/>
                <a:sym typeface="Montserrat"/>
              </a:rPr>
              <a:t>Precision</a:t>
            </a: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 (weniger Fehlalarme)</a:t>
            </a:r>
            <a:br>
              <a:rPr lang="de" sz="1300">
                <a:latin typeface="Montserrat"/>
                <a:ea typeface="Montserrat"/>
                <a:cs typeface="Montserrat"/>
                <a:sym typeface="Montserrat"/>
              </a:rPr>
            </a:b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Formel: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Precision = TP/(TP+FP), Recall = TP/(TP+FN)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F1 = 2·(Precision·Recall)/(Precision+Recall)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7" name="Google Shape;277;p49"/>
          <p:cNvSpPr txBox="1"/>
          <p:nvPr>
            <p:ph type="title"/>
          </p:nvPr>
        </p:nvSpPr>
        <p:spPr>
          <a:xfrm>
            <a:off x="715100" y="535000"/>
            <a:ext cx="77139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de"/>
              <a:t>Optimierungsziel &amp; warum F1?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0"/>
          <p:cNvSpPr txBox="1"/>
          <p:nvPr>
            <p:ph idx="3" type="subTitle"/>
          </p:nvPr>
        </p:nvSpPr>
        <p:spPr>
          <a:xfrm>
            <a:off x="715100" y="2131525"/>
            <a:ext cx="7713900" cy="24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 sz="1300">
                <a:latin typeface="Montserrat"/>
                <a:ea typeface="Montserrat"/>
                <a:cs typeface="Montserrat"/>
                <a:sym typeface="Montserrat"/>
              </a:rPr>
              <a:t>Optuna ist ein Framework zur automatischen Optimierung von Modellparametern.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Optuna wählt in jedem Durchlauf (Trial) einen neuen Satz an Hyperparametern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Das Modell wird mit diesen Parametern trainiert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Eine Zielfunktion bewertet die Modellleistung (z. B. F1-Score)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Optuna speichert das Ergebnis jedes Trials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Ziel ist es, die Parameterkombination mit der besten Modellleistung zu finden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 sz="1300">
                <a:latin typeface="Montserrat"/>
                <a:ea typeface="Montserrat"/>
                <a:cs typeface="Montserrat"/>
                <a:sym typeface="Montserrat"/>
              </a:rPr>
              <a:t>→ Optuna ersetzt damit klassische GridSearch- oder RandomSearch-Verfahren, ist aber flexibler und effizienter.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3" name="Google Shape;283;p50"/>
          <p:cNvSpPr txBox="1"/>
          <p:nvPr>
            <p:ph type="title"/>
          </p:nvPr>
        </p:nvSpPr>
        <p:spPr>
          <a:xfrm>
            <a:off x="715100" y="535000"/>
            <a:ext cx="77139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de"/>
              <a:t>Wie funktioniert Optuna grundsätzlich?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51"/>
          <p:cNvSpPr txBox="1"/>
          <p:nvPr>
            <p:ph idx="3" type="subTitle"/>
          </p:nvPr>
        </p:nvSpPr>
        <p:spPr>
          <a:xfrm>
            <a:off x="715100" y="1448025"/>
            <a:ext cx="7713900" cy="37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Für jedes </a:t>
            </a:r>
            <a:r>
              <a:rPr b="1" lang="de" sz="1300">
                <a:latin typeface="Montserrat"/>
                <a:ea typeface="Montserrat"/>
                <a:cs typeface="Montserrat"/>
                <a:sym typeface="Montserrat"/>
              </a:rPr>
              <a:t>Anomalieerkennungsmodell</a:t>
            </a: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 wird ein eigenes </a:t>
            </a:r>
            <a:r>
              <a:rPr b="1" lang="de" sz="1300">
                <a:latin typeface="Montserrat"/>
                <a:ea typeface="Montserrat"/>
                <a:cs typeface="Montserrat"/>
                <a:sym typeface="Montserrat"/>
              </a:rPr>
              <a:t>Optuna-Study</a:t>
            </a: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 erstellt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●"/>
            </a:pPr>
            <a:r>
              <a:rPr b="1" lang="de" sz="1300">
                <a:latin typeface="Montserrat"/>
                <a:ea typeface="Montserrat"/>
                <a:cs typeface="Montserrat"/>
                <a:sym typeface="Montserrat"/>
              </a:rPr>
              <a:t>Pro Trial</a:t>
            </a: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 werden</a:t>
            </a: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→ </a:t>
            </a: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Hyperparameter vorgeschlagen</a:t>
            </a:r>
            <a:br>
              <a:rPr lang="de" sz="1300">
                <a:latin typeface="Montserrat"/>
                <a:ea typeface="Montserrat"/>
                <a:cs typeface="Montserrat"/>
                <a:sym typeface="Montserrat"/>
              </a:rPr>
            </a:b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 	→ </a:t>
            </a: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das Modell ausschließlich auf Normaldaten trainiert</a:t>
            </a:r>
            <a:br>
              <a:rPr lang="de" sz="1300">
                <a:latin typeface="Montserrat"/>
                <a:ea typeface="Montserrat"/>
                <a:cs typeface="Montserrat"/>
                <a:sym typeface="Montserrat"/>
              </a:rPr>
            </a:b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	→ Anomalie-Scores auf dem Validierungsdatensatz berechnet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Mögliche </a:t>
            </a:r>
            <a:r>
              <a:rPr b="1" lang="de" sz="1300">
                <a:latin typeface="Montserrat"/>
                <a:ea typeface="Montserrat"/>
                <a:cs typeface="Montserrat"/>
                <a:sym typeface="Montserrat"/>
              </a:rPr>
              <a:t>Thresholds</a:t>
            </a: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 werden aus </a:t>
            </a:r>
            <a:r>
              <a:rPr b="1" lang="de" sz="1300">
                <a:latin typeface="Montserrat"/>
                <a:ea typeface="Montserrat"/>
                <a:cs typeface="Montserrat"/>
                <a:sym typeface="Montserrat"/>
              </a:rPr>
              <a:t>Score-Quantilen</a:t>
            </a: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 abgeleitet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●"/>
            </a:pPr>
            <a:r>
              <a:rPr b="1" lang="de" sz="1300">
                <a:latin typeface="Montserrat"/>
                <a:ea typeface="Montserrat"/>
                <a:cs typeface="Montserrat"/>
                <a:sym typeface="Montserrat"/>
              </a:rPr>
              <a:t>Bewertet</a:t>
            </a: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 wird jede </a:t>
            </a:r>
            <a:r>
              <a:rPr b="1" lang="de" sz="1300">
                <a:latin typeface="Montserrat"/>
                <a:ea typeface="Montserrat"/>
                <a:cs typeface="Montserrat"/>
                <a:sym typeface="Montserrat"/>
              </a:rPr>
              <a:t>Parameter-Threshold-Kombination</a:t>
            </a: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 mit dem </a:t>
            </a:r>
            <a:r>
              <a:rPr b="1" lang="de" sz="1300">
                <a:latin typeface="Montserrat"/>
                <a:ea typeface="Montserrat"/>
                <a:cs typeface="Montserrat"/>
                <a:sym typeface="Montserrat"/>
              </a:rPr>
              <a:t>F1-Score</a:t>
            </a: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 auf </a:t>
            </a:r>
            <a:r>
              <a:rPr b="1" lang="de" sz="1300">
                <a:latin typeface="Montserrat"/>
                <a:ea typeface="Montserrat"/>
                <a:cs typeface="Montserrat"/>
                <a:sym typeface="Montserrat"/>
              </a:rPr>
              <a:t>Validation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Das </a:t>
            </a:r>
            <a:r>
              <a:rPr b="1" lang="de" sz="1300">
                <a:latin typeface="Montserrat"/>
                <a:ea typeface="Montserrat"/>
                <a:cs typeface="Montserrat"/>
                <a:sym typeface="Montserrat"/>
              </a:rPr>
              <a:t>beste Modell</a:t>
            </a: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 wird anschließend </a:t>
            </a:r>
            <a:r>
              <a:rPr b="1" lang="de" sz="1300">
                <a:latin typeface="Montserrat"/>
                <a:ea typeface="Montserrat"/>
                <a:cs typeface="Montserrat"/>
                <a:sym typeface="Montserrat"/>
              </a:rPr>
              <a:t>unverändert</a:t>
            </a: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 auf den </a:t>
            </a:r>
            <a:r>
              <a:rPr b="1" lang="de" sz="1300">
                <a:latin typeface="Montserrat"/>
                <a:ea typeface="Montserrat"/>
                <a:cs typeface="Montserrat"/>
                <a:sym typeface="Montserrat"/>
              </a:rPr>
              <a:t>Testdatensatz</a:t>
            </a: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 angewendet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Optuna läuft dabei als Schleife über die Modelle und ermöglicht einen fairen, vergleichbaren Modellvergleich.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9" name="Google Shape;289;p51"/>
          <p:cNvSpPr txBox="1"/>
          <p:nvPr>
            <p:ph type="title"/>
          </p:nvPr>
        </p:nvSpPr>
        <p:spPr>
          <a:xfrm>
            <a:off x="141050" y="523425"/>
            <a:ext cx="88620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de"/>
              <a:t>Einsatz von Optuna in unserem Projekt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52"/>
          <p:cNvSpPr txBox="1"/>
          <p:nvPr>
            <p:ph idx="3" type="subTitle"/>
          </p:nvPr>
        </p:nvSpPr>
        <p:spPr>
          <a:xfrm>
            <a:off x="614400" y="1030025"/>
            <a:ext cx="7915200" cy="12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Optuna </a:t>
            </a:r>
            <a:r>
              <a:rPr b="1" lang="de" sz="1300">
                <a:latin typeface="Montserrat"/>
                <a:ea typeface="Montserrat"/>
                <a:cs typeface="Montserrat"/>
                <a:sym typeface="Montserrat"/>
              </a:rPr>
              <a:t>verbessert den F1-Score</a:t>
            </a: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 in </a:t>
            </a:r>
            <a:r>
              <a:rPr b="1" lang="de" sz="1300">
                <a:latin typeface="Montserrat"/>
                <a:ea typeface="Montserrat"/>
                <a:cs typeface="Montserrat"/>
                <a:sym typeface="Montserrat"/>
              </a:rPr>
              <a:t>allen</a:t>
            </a: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 betrachteten </a:t>
            </a:r>
            <a:r>
              <a:rPr b="1" lang="de" sz="1300">
                <a:latin typeface="Montserrat"/>
                <a:ea typeface="Montserrat"/>
                <a:cs typeface="Montserrat"/>
                <a:sym typeface="Montserrat"/>
              </a:rPr>
              <a:t>Prozessschritten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●"/>
            </a:pPr>
            <a:r>
              <a:rPr b="1" lang="de" sz="1300">
                <a:latin typeface="Montserrat"/>
                <a:ea typeface="Montserrat"/>
                <a:cs typeface="Montserrat"/>
                <a:sym typeface="Montserrat"/>
              </a:rPr>
              <a:t>Z-Score</a:t>
            </a: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 ist in den meisten Steps </a:t>
            </a:r>
            <a:r>
              <a:rPr b="1" lang="de" sz="1300">
                <a:latin typeface="Montserrat"/>
                <a:ea typeface="Montserrat"/>
                <a:cs typeface="Montserrat"/>
                <a:sym typeface="Montserrat"/>
              </a:rPr>
              <a:t>ausreichend</a:t>
            </a: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b="1" lang="de" sz="1300">
                <a:latin typeface="Montserrat"/>
                <a:ea typeface="Montserrat"/>
                <a:cs typeface="Montserrat"/>
                <a:sym typeface="Montserrat"/>
              </a:rPr>
              <a:t>wenn</a:t>
            </a: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 der </a:t>
            </a:r>
            <a:r>
              <a:rPr b="1" lang="de" sz="1300">
                <a:latin typeface="Montserrat"/>
                <a:ea typeface="Montserrat"/>
                <a:cs typeface="Montserrat"/>
                <a:sym typeface="Montserrat"/>
              </a:rPr>
              <a:t>Threshold optimiert</a:t>
            </a: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 wird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●"/>
            </a:pPr>
            <a:r>
              <a:rPr b="1" lang="de" sz="1300">
                <a:latin typeface="Montserrat"/>
                <a:ea typeface="Montserrat"/>
                <a:cs typeface="Montserrat"/>
                <a:sym typeface="Montserrat"/>
              </a:rPr>
              <a:t>Schritt 3</a:t>
            </a: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 zeigt komplexeres Verhalten und </a:t>
            </a:r>
            <a:r>
              <a:rPr b="1" lang="de" sz="1300">
                <a:latin typeface="Montserrat"/>
                <a:ea typeface="Montserrat"/>
                <a:cs typeface="Montserrat"/>
                <a:sym typeface="Montserrat"/>
              </a:rPr>
              <a:t>profitiert von einem anderen Modell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●"/>
            </a:pPr>
            <a:r>
              <a:rPr b="1" lang="de" sz="1300">
                <a:latin typeface="Montserrat"/>
                <a:ea typeface="Montserrat"/>
                <a:cs typeface="Montserrat"/>
                <a:sym typeface="Montserrat"/>
              </a:rPr>
              <a:t>Step-spezifische Modellierung</a:t>
            </a: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 und</a:t>
            </a:r>
            <a:r>
              <a:rPr b="1" lang="de" sz="1300">
                <a:latin typeface="Montserrat"/>
                <a:ea typeface="Montserrat"/>
                <a:cs typeface="Montserrat"/>
                <a:sym typeface="Montserrat"/>
              </a:rPr>
              <a:t> Optimierung</a:t>
            </a: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 sind entscheidend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5" name="Google Shape;295;p52"/>
          <p:cNvSpPr txBox="1"/>
          <p:nvPr>
            <p:ph type="title"/>
          </p:nvPr>
        </p:nvSpPr>
        <p:spPr>
          <a:xfrm>
            <a:off x="-1378525" y="382300"/>
            <a:ext cx="5631900" cy="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de"/>
              <a:t>Ergebnisse</a:t>
            </a:r>
            <a:endParaRPr/>
          </a:p>
        </p:txBody>
      </p:sp>
      <p:pic>
        <p:nvPicPr>
          <p:cNvPr id="296" name="Google Shape;296;p52" title="900237b5-dde0-4b0c-8a44-0c212d1ac3a1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2225" y="2175525"/>
            <a:ext cx="7379574" cy="291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53"/>
          <p:cNvSpPr txBox="1"/>
          <p:nvPr>
            <p:ph type="title"/>
          </p:nvPr>
        </p:nvSpPr>
        <p:spPr>
          <a:xfrm>
            <a:off x="716400" y="2260050"/>
            <a:ext cx="7711200" cy="87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de" sz="4800"/>
              <a:t>Nutzung </a:t>
            </a:r>
            <a:r>
              <a:rPr lang="de" sz="4800"/>
              <a:t>TabPFN</a:t>
            </a:r>
            <a:endParaRPr/>
          </a:p>
        </p:txBody>
      </p:sp>
      <p:sp>
        <p:nvSpPr>
          <p:cNvPr id="302" name="Google Shape;302;p53"/>
          <p:cNvSpPr txBox="1"/>
          <p:nvPr>
            <p:ph idx="2" type="title"/>
          </p:nvPr>
        </p:nvSpPr>
        <p:spPr>
          <a:xfrm>
            <a:off x="716400" y="1380450"/>
            <a:ext cx="7711200" cy="8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de"/>
              <a:t>04</a:t>
            </a:r>
            <a:endParaRPr/>
          </a:p>
        </p:txBody>
      </p:sp>
      <p:sp>
        <p:nvSpPr>
          <p:cNvPr id="303" name="Google Shape;303;p53"/>
          <p:cNvSpPr txBox="1"/>
          <p:nvPr>
            <p:ph idx="1" type="subTitle"/>
          </p:nvPr>
        </p:nvSpPr>
        <p:spPr>
          <a:xfrm>
            <a:off x="716400" y="3063450"/>
            <a:ext cx="7711200" cy="3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de"/>
              <a:t>Funktionsweise und Nutzung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54"/>
          <p:cNvSpPr txBox="1"/>
          <p:nvPr>
            <p:ph idx="3" type="subTitle"/>
          </p:nvPr>
        </p:nvSpPr>
        <p:spPr>
          <a:xfrm>
            <a:off x="715100" y="1795600"/>
            <a:ext cx="7713900" cy="27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“Tabular Prior-data Fitted Network”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Transformer-basiertes Foundation Modell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Trainiert auf Millionen von synthetisch generierten Datensätzen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kein klassisches Modelltraining nötig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stattdessen Anpassung auf eigene Daten via Finetuning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9" name="Google Shape;309;p54"/>
          <p:cNvSpPr txBox="1"/>
          <p:nvPr>
            <p:ph type="title"/>
          </p:nvPr>
        </p:nvSpPr>
        <p:spPr>
          <a:xfrm>
            <a:off x="715100" y="535000"/>
            <a:ext cx="77139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de"/>
              <a:t>Was ist TabPFN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5"/>
          <p:cNvSpPr txBox="1"/>
          <p:nvPr>
            <p:ph idx="1" type="subTitle"/>
          </p:nvPr>
        </p:nvSpPr>
        <p:spPr>
          <a:xfrm>
            <a:off x="715100" y="2335400"/>
            <a:ext cx="3516600" cy="15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Viele Trainingsdurchläufe, um das beste Modell zu finden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nutzt klassische ML-Algorithmen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bei </a:t>
            </a:r>
            <a:r>
              <a:rPr b="1" lang="de" sz="1300">
                <a:latin typeface="Montserrat"/>
                <a:ea typeface="Montserrat"/>
                <a:cs typeface="Montserrat"/>
                <a:sym typeface="Montserrat"/>
              </a:rPr>
              <a:t>großen Datensätzen</a:t>
            </a: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 einsetzbar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Performance steigt mit mehr Daten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b="1" lang="de" sz="1300">
                <a:latin typeface="Montserrat"/>
                <a:ea typeface="Montserrat"/>
                <a:cs typeface="Montserrat"/>
                <a:sym typeface="Montserrat"/>
              </a:rPr>
              <a:t>lange </a:t>
            </a: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Rechendauer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5" name="Google Shape;315;p55"/>
          <p:cNvSpPr txBox="1"/>
          <p:nvPr>
            <p:ph idx="2" type="subTitle"/>
          </p:nvPr>
        </p:nvSpPr>
        <p:spPr>
          <a:xfrm>
            <a:off x="715100" y="1875200"/>
            <a:ext cx="35166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de"/>
              <a:t>AutoML</a:t>
            </a:r>
            <a:endParaRPr/>
          </a:p>
        </p:txBody>
      </p:sp>
      <p:sp>
        <p:nvSpPr>
          <p:cNvPr id="316" name="Google Shape;316;p55"/>
          <p:cNvSpPr txBox="1"/>
          <p:nvPr>
            <p:ph idx="3" type="subTitle"/>
          </p:nvPr>
        </p:nvSpPr>
        <p:spPr>
          <a:xfrm>
            <a:off x="4912401" y="2335400"/>
            <a:ext cx="3516600" cy="15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kein klassisches Training auf eigenen Daten nötig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Foundation Modell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ausgelegt für </a:t>
            </a:r>
            <a:r>
              <a:rPr b="1" lang="de" sz="1300">
                <a:latin typeface="Montserrat"/>
                <a:ea typeface="Montserrat"/>
                <a:cs typeface="Montserrat"/>
                <a:sym typeface="Montserrat"/>
              </a:rPr>
              <a:t>kleine Datensätze</a:t>
            </a: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 (&lt;10k Samples)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Performance unabhängig von Datenmenge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b="1" lang="de" sz="1300">
                <a:latin typeface="Montserrat"/>
                <a:ea typeface="Montserrat"/>
                <a:cs typeface="Montserrat"/>
                <a:sym typeface="Montserrat"/>
              </a:rPr>
              <a:t>kurze </a:t>
            </a: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Inferenzzeit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7" name="Google Shape;317;p55"/>
          <p:cNvSpPr txBox="1"/>
          <p:nvPr>
            <p:ph idx="4" type="subTitle"/>
          </p:nvPr>
        </p:nvSpPr>
        <p:spPr>
          <a:xfrm>
            <a:off x="4912409" y="1875200"/>
            <a:ext cx="35166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de"/>
              <a:t>TabPFN</a:t>
            </a:r>
            <a:endParaRPr/>
          </a:p>
        </p:txBody>
      </p:sp>
      <p:sp>
        <p:nvSpPr>
          <p:cNvPr id="318" name="Google Shape;318;p55"/>
          <p:cNvSpPr txBox="1"/>
          <p:nvPr>
            <p:ph type="title"/>
          </p:nvPr>
        </p:nvSpPr>
        <p:spPr>
          <a:xfrm>
            <a:off x="715100" y="535000"/>
            <a:ext cx="77139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de"/>
              <a:t>TabPFN vs AutoML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6"/>
          <p:cNvSpPr txBox="1"/>
          <p:nvPr>
            <p:ph idx="3" type="subTitle"/>
          </p:nvPr>
        </p:nvSpPr>
        <p:spPr>
          <a:xfrm>
            <a:off x="715100" y="1795600"/>
            <a:ext cx="4772700" cy="29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TabPFN schätzt pro Datenpunkt die Wahrscheinlichkeit, dass diese Featurewerte gemeinsam auftreten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Modell wählt Feature-Reihenfolge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Für jedes Feature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○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Berechnung der Wahrscheinlichkeit des Wertes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○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Nutzung der TabPFN Regressor/Classification Modelle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Kettenregel der bedingten Wahrscheinlichkeit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Robustheit durch mehrere Feature-Reihenfolgen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Niedrige Wahrscheinlichkeit → Anomalie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4" name="Google Shape;324;p56"/>
          <p:cNvSpPr txBox="1"/>
          <p:nvPr>
            <p:ph type="title"/>
          </p:nvPr>
        </p:nvSpPr>
        <p:spPr>
          <a:xfrm>
            <a:off x="715100" y="535000"/>
            <a:ext cx="77139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de"/>
              <a:t>Anomaly Detection mit TabPFN</a:t>
            </a:r>
            <a:endParaRPr/>
          </a:p>
        </p:txBody>
      </p:sp>
      <p:pic>
        <p:nvPicPr>
          <p:cNvPr id="325" name="Google Shape;325;p56" title="CodeCogsEq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7798" y="2766548"/>
            <a:ext cx="3487075" cy="100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7"/>
          <p:cNvSpPr txBox="1"/>
          <p:nvPr>
            <p:ph idx="3" type="subTitle"/>
          </p:nvPr>
        </p:nvSpPr>
        <p:spPr>
          <a:xfrm>
            <a:off x="715100" y="1795600"/>
            <a:ext cx="7713900" cy="29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Kein Train-Test-Split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○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weil: überhaupt kein Training nötig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Fit und Prediction wird auf den gleichen Daten ausgeführt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Fit-Methode: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○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Laden des Datensatzes als numpy array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○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Inferenz der Features (numerisch vs. kategorisch)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Outliers-Methode: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○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Inferenz und Berechnung der Anomaly-Scores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Konstante Features müssen vorher entfernt werden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1" name="Google Shape;331;p57"/>
          <p:cNvSpPr txBox="1"/>
          <p:nvPr>
            <p:ph type="title"/>
          </p:nvPr>
        </p:nvSpPr>
        <p:spPr>
          <a:xfrm>
            <a:off x="715100" y="535000"/>
            <a:ext cx="77139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de"/>
              <a:t>Besonderheiten AD mit TabPFN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8"/>
          <p:cNvSpPr txBox="1"/>
          <p:nvPr>
            <p:ph idx="3" type="subTitle"/>
          </p:nvPr>
        </p:nvSpPr>
        <p:spPr>
          <a:xfrm>
            <a:off x="715100" y="1795600"/>
            <a:ext cx="7713900" cy="29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Datensatz zu groß für TabPFN (je nach Schritt bis zu 140k Samples)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○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Sampling nötig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Fester Split Normaldaten zu Anomalien (90% / 10%)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90% Quantil als Threshold für Anomaly Score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○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Precision = Recall = F1-Score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Testen der Performance mit verschiedenen Datenmengen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7" name="Google Shape;337;p58"/>
          <p:cNvSpPr txBox="1"/>
          <p:nvPr>
            <p:ph type="title"/>
          </p:nvPr>
        </p:nvSpPr>
        <p:spPr>
          <a:xfrm>
            <a:off x="715100" y="535000"/>
            <a:ext cx="77139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de"/>
              <a:t>Methodik AD mit TabPFN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9"/>
          <p:cNvSpPr txBox="1"/>
          <p:nvPr>
            <p:ph type="title"/>
          </p:nvPr>
        </p:nvSpPr>
        <p:spPr>
          <a:xfrm>
            <a:off x="715100" y="535000"/>
            <a:ext cx="77139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de"/>
              <a:t>Überblick Ergebnisse</a:t>
            </a:r>
            <a:endParaRPr/>
          </a:p>
        </p:txBody>
      </p:sp>
      <p:pic>
        <p:nvPicPr>
          <p:cNvPr id="343" name="Google Shape;343;p59" title="outpu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3800" y="1273300"/>
            <a:ext cx="6116399" cy="3650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60"/>
          <p:cNvSpPr txBox="1"/>
          <p:nvPr>
            <p:ph type="title"/>
          </p:nvPr>
        </p:nvSpPr>
        <p:spPr>
          <a:xfrm>
            <a:off x="715100" y="535000"/>
            <a:ext cx="77139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de"/>
              <a:t>Überblick Ergebnisse</a:t>
            </a:r>
            <a:endParaRPr/>
          </a:p>
        </p:txBody>
      </p:sp>
      <p:pic>
        <p:nvPicPr>
          <p:cNvPr id="349" name="Google Shape;349;p60" title="metrics_step_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3513" y="1273300"/>
            <a:ext cx="6116399" cy="364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61"/>
          <p:cNvSpPr txBox="1"/>
          <p:nvPr>
            <p:ph type="title"/>
          </p:nvPr>
        </p:nvSpPr>
        <p:spPr>
          <a:xfrm>
            <a:off x="716400" y="2260050"/>
            <a:ext cx="7711200" cy="87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de"/>
              <a:t>Nutzung Meta-Learner</a:t>
            </a:r>
            <a:endParaRPr/>
          </a:p>
        </p:txBody>
      </p:sp>
      <p:sp>
        <p:nvSpPr>
          <p:cNvPr id="355" name="Google Shape;355;p61"/>
          <p:cNvSpPr txBox="1"/>
          <p:nvPr>
            <p:ph idx="2" type="title"/>
          </p:nvPr>
        </p:nvSpPr>
        <p:spPr>
          <a:xfrm>
            <a:off x="716400" y="1380450"/>
            <a:ext cx="7711200" cy="8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de"/>
              <a:t>05</a:t>
            </a:r>
            <a:endParaRPr/>
          </a:p>
        </p:txBody>
      </p:sp>
      <p:sp>
        <p:nvSpPr>
          <p:cNvPr id="356" name="Google Shape;356;p61"/>
          <p:cNvSpPr txBox="1"/>
          <p:nvPr>
            <p:ph idx="1" type="subTitle"/>
          </p:nvPr>
        </p:nvSpPr>
        <p:spPr>
          <a:xfrm>
            <a:off x="716400" y="3063450"/>
            <a:ext cx="7711200" cy="3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de"/>
              <a:t>Funktionsweise und Nutzung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62"/>
          <p:cNvSpPr txBox="1"/>
          <p:nvPr>
            <p:ph type="title"/>
          </p:nvPr>
        </p:nvSpPr>
        <p:spPr>
          <a:xfrm>
            <a:off x="715100" y="535000"/>
            <a:ext cx="77139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de"/>
              <a:t>Was ist Meta-Learning</a:t>
            </a:r>
            <a:endParaRPr/>
          </a:p>
        </p:txBody>
      </p:sp>
      <p:pic>
        <p:nvPicPr>
          <p:cNvPr id="362" name="Google Shape;362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400" y="1413825"/>
            <a:ext cx="4801050" cy="3200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62"/>
          <p:cNvSpPr txBox="1"/>
          <p:nvPr/>
        </p:nvSpPr>
        <p:spPr>
          <a:xfrm>
            <a:off x="5345450" y="2001175"/>
            <a:ext cx="3516600" cy="17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300">
                <a:solidFill>
                  <a:srgbClr val="1D315A"/>
                </a:solidFill>
                <a:latin typeface="Montserrat"/>
                <a:ea typeface="Montserrat"/>
                <a:cs typeface="Montserrat"/>
                <a:sym typeface="Montserrat"/>
              </a:rPr>
              <a:t>Kernaussage:</a:t>
            </a:r>
            <a:endParaRPr b="1" sz="1300">
              <a:solidFill>
                <a:srgbClr val="1D315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300">
                <a:solidFill>
                  <a:srgbClr val="1D315A"/>
                </a:solidFill>
                <a:latin typeface="Montserrat"/>
                <a:ea typeface="Montserrat"/>
                <a:cs typeface="Montserrat"/>
                <a:sym typeface="Montserrat"/>
              </a:rPr>
              <a:t>Meta-Learning bedeutet:</a:t>
            </a:r>
            <a:endParaRPr sz="1300">
              <a:solidFill>
                <a:srgbClr val="1D315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300">
                <a:solidFill>
                  <a:srgbClr val="1D315A"/>
                </a:solidFill>
                <a:latin typeface="Montserrat"/>
                <a:ea typeface="Montserrat"/>
                <a:cs typeface="Montserrat"/>
                <a:sym typeface="Montserrat"/>
              </a:rPr>
              <a:t>„Lernen, wie man lernt.“</a:t>
            </a:r>
            <a:endParaRPr sz="1300">
              <a:solidFill>
                <a:srgbClr val="1D315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300">
                <a:solidFill>
                  <a:srgbClr val="1D315A"/>
                </a:solidFill>
                <a:latin typeface="Montserrat"/>
                <a:ea typeface="Montserrat"/>
                <a:cs typeface="Montserrat"/>
                <a:sym typeface="Montserrat"/>
              </a:rPr>
              <a:t>Idee:</a:t>
            </a:r>
            <a:endParaRPr b="1" sz="1300">
              <a:solidFill>
                <a:srgbClr val="1D315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300">
                <a:solidFill>
                  <a:srgbClr val="1D315A"/>
                </a:solidFill>
                <a:latin typeface="Montserrat"/>
                <a:ea typeface="Montserrat"/>
                <a:cs typeface="Montserrat"/>
                <a:sym typeface="Montserrat"/>
              </a:rPr>
              <a:t>Statt jedes Modell für jeden neuen  Datensatz neu zu testen, nutzt man Erfahrungen aus früheren Datensätzen und Trainings</a:t>
            </a:r>
            <a:endParaRPr sz="1300">
              <a:solidFill>
                <a:srgbClr val="1D315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58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/>
              <a:buNone/>
            </a:pPr>
            <a:r>
              <a:t/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63"/>
          <p:cNvSpPr txBox="1"/>
          <p:nvPr>
            <p:ph type="title"/>
          </p:nvPr>
        </p:nvSpPr>
        <p:spPr>
          <a:xfrm>
            <a:off x="715100" y="535000"/>
            <a:ext cx="77139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de"/>
              <a:t>Warum ist das so gut für unsupervised Anomalieerkennung</a:t>
            </a:r>
            <a:endParaRPr/>
          </a:p>
        </p:txBody>
      </p:sp>
      <p:sp>
        <p:nvSpPr>
          <p:cNvPr id="369" name="Google Shape;369;p63"/>
          <p:cNvSpPr txBox="1"/>
          <p:nvPr/>
        </p:nvSpPr>
        <p:spPr>
          <a:xfrm>
            <a:off x="299975" y="2335075"/>
            <a:ext cx="4616100" cy="19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de" sz="1300">
                <a:latin typeface="Montserrat"/>
                <a:ea typeface="Montserrat"/>
                <a:cs typeface="Montserrat"/>
                <a:sym typeface="Montserrat"/>
              </a:rPr>
              <a:t>Problem </a:t>
            </a: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bei Unsupervised Anomaly Detection: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Keine Labels verfügbar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Viele Modelle (LOF, IForest, ABOD, KNN, …)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Keine Möglichkeit Modelle zu bewerten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Vorab unklar, welches Modell am besten passt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de" sz="1300">
                <a:latin typeface="Montserrat"/>
                <a:ea typeface="Montserrat"/>
                <a:cs typeface="Montserrat"/>
                <a:sym typeface="Montserrat"/>
              </a:rPr>
              <a:t>Lösung </a:t>
            </a: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durch MetaOD: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Automatische Auswahl des besten Modells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/>
              <a:buNone/>
            </a:pPr>
            <a:r>
              <a:t/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370" name="Google Shape;370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0729" y="3552000"/>
            <a:ext cx="890650" cy="89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10627" y="2397750"/>
            <a:ext cx="730842" cy="73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64"/>
          <p:cNvSpPr txBox="1"/>
          <p:nvPr>
            <p:ph type="title"/>
          </p:nvPr>
        </p:nvSpPr>
        <p:spPr>
          <a:xfrm>
            <a:off x="715100" y="535000"/>
            <a:ext cx="77139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de"/>
              <a:t>Wie funktioniert MetaOD</a:t>
            </a:r>
            <a:endParaRPr/>
          </a:p>
        </p:txBody>
      </p:sp>
      <p:pic>
        <p:nvPicPr>
          <p:cNvPr id="377" name="Google Shape;377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0574" y="1314100"/>
            <a:ext cx="3297177" cy="356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6250" y="1314100"/>
            <a:ext cx="3201899" cy="3462377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64"/>
          <p:cNvSpPr txBox="1"/>
          <p:nvPr/>
        </p:nvSpPr>
        <p:spPr>
          <a:xfrm>
            <a:off x="1053351" y="1529975"/>
            <a:ext cx="2987700" cy="15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2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latin typeface="Montserrat"/>
                <a:ea typeface="Montserrat"/>
                <a:cs typeface="Montserrat"/>
                <a:sym typeface="Montserrat"/>
              </a:rPr>
              <a:t>Schritt 1 offline: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Char char="●"/>
            </a:pPr>
            <a:r>
              <a:rPr lang="de" sz="1100">
                <a:latin typeface="Montserrat"/>
                <a:ea typeface="Montserrat"/>
                <a:cs typeface="Montserrat"/>
                <a:sym typeface="Montserrat"/>
              </a:rPr>
              <a:t>Viele historische Datensätze werden gesammelt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Char char="●"/>
            </a:pPr>
            <a:r>
              <a:rPr lang="de" sz="1100">
                <a:latin typeface="Montserrat"/>
                <a:ea typeface="Montserrat"/>
                <a:cs typeface="Montserrat"/>
                <a:sym typeface="Montserrat"/>
              </a:rPr>
              <a:t>Verschiedene Anomalie-Modelle werden darauf angewendet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Char char="●"/>
            </a:pPr>
            <a:r>
              <a:rPr lang="de" sz="1100">
                <a:latin typeface="Montserrat"/>
                <a:ea typeface="Montserrat"/>
                <a:cs typeface="Montserrat"/>
                <a:sym typeface="Montserrat"/>
              </a:rPr>
              <a:t>Die Performance der Modelle wird gespeichert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Char char="●"/>
            </a:pPr>
            <a:r>
              <a:rPr lang="de" sz="1100">
                <a:latin typeface="Montserrat"/>
                <a:ea typeface="Montserrat"/>
                <a:cs typeface="Montserrat"/>
                <a:sym typeface="Montserrat"/>
              </a:rPr>
              <a:t>Für jeden Datensatz werden Meta-Features extrahiert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Char char="●"/>
            </a:pPr>
            <a:r>
              <a:rPr lang="de" sz="1100">
                <a:latin typeface="Montserrat"/>
                <a:ea typeface="Montserrat"/>
                <a:cs typeface="Montserrat"/>
                <a:sym typeface="Montserrat"/>
              </a:rPr>
              <a:t>Auf Basis dieser Informationen wird ein Meta-Modell trainiert, das den Zusammenhang zwischen Datensätzen und Modellen lernt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/>
              <a:buNone/>
            </a:pPr>
            <a:r>
              <a:t/>
            </a:r>
            <a:endParaRPr b="1"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845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80" name="Google Shape;380;p64"/>
          <p:cNvSpPr txBox="1"/>
          <p:nvPr/>
        </p:nvSpPr>
        <p:spPr>
          <a:xfrm>
            <a:off x="5169463" y="1529975"/>
            <a:ext cx="2759400" cy="15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latin typeface="Montserrat"/>
                <a:ea typeface="Montserrat"/>
                <a:cs typeface="Montserrat"/>
                <a:sym typeface="Montserrat"/>
              </a:rPr>
              <a:t>Schritt 2 online: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●"/>
            </a:pPr>
            <a:r>
              <a:rPr lang="de" sz="1100">
                <a:latin typeface="Montserrat"/>
                <a:ea typeface="Montserrat"/>
                <a:cs typeface="Montserrat"/>
                <a:sym typeface="Montserrat"/>
              </a:rPr>
              <a:t>Ein neuer Datensatz wird gegeben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●"/>
            </a:pPr>
            <a:r>
              <a:rPr lang="de" sz="1100">
                <a:latin typeface="Montserrat"/>
                <a:ea typeface="Montserrat"/>
                <a:cs typeface="Montserrat"/>
                <a:sym typeface="Montserrat"/>
              </a:rPr>
              <a:t>Die Meta-Features werden extrahiert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●"/>
            </a:pPr>
            <a:r>
              <a:rPr lang="de" sz="1100">
                <a:latin typeface="Montserrat"/>
                <a:ea typeface="Montserrat"/>
                <a:cs typeface="Montserrat"/>
                <a:sym typeface="Montserrat"/>
              </a:rPr>
              <a:t>Der Datensatz wird im gelernten Modell eingeordnet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●"/>
            </a:pPr>
            <a:r>
              <a:rPr lang="de" sz="1100">
                <a:latin typeface="Montserrat"/>
                <a:ea typeface="Montserrat"/>
                <a:cs typeface="Montserrat"/>
                <a:sym typeface="Montserrat"/>
              </a:rPr>
              <a:t>Passende Anomalie-Modelle werden automatisch vorgeschlagen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/>
              <a:buNone/>
            </a:pPr>
            <a:r>
              <a:t/>
            </a:r>
            <a:endParaRPr b="1"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845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65"/>
          <p:cNvSpPr txBox="1"/>
          <p:nvPr/>
        </p:nvSpPr>
        <p:spPr>
          <a:xfrm>
            <a:off x="1980600" y="4200800"/>
            <a:ext cx="5182800" cy="3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MetaOD wurde nur zur Modellwahl genutzt</a:t>
            </a:r>
            <a:br>
              <a:rPr lang="de" sz="1300">
                <a:latin typeface="Montserrat"/>
                <a:ea typeface="Montserrat"/>
                <a:cs typeface="Montserrat"/>
                <a:sym typeface="Montserrat"/>
              </a:rPr>
            </a:b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 Das eigentliche OD-Modell wurde danach normal trainiert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386" name="Google Shape;386;p65"/>
          <p:cNvSpPr txBox="1"/>
          <p:nvPr>
            <p:ph type="title"/>
          </p:nvPr>
        </p:nvSpPr>
        <p:spPr>
          <a:xfrm>
            <a:off x="715100" y="535000"/>
            <a:ext cx="77139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de"/>
              <a:t>Wie haben wir das angewendet?</a:t>
            </a:r>
            <a:endParaRPr/>
          </a:p>
        </p:txBody>
      </p:sp>
      <p:sp>
        <p:nvSpPr>
          <p:cNvPr id="387" name="Google Shape;387;p65"/>
          <p:cNvSpPr txBox="1"/>
          <p:nvPr/>
        </p:nvSpPr>
        <p:spPr>
          <a:xfrm>
            <a:off x="185625" y="2596875"/>
            <a:ext cx="1104000" cy="3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CSV-Daten geladen</a:t>
            </a:r>
            <a:endParaRPr sz="10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388" name="Google Shape;388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50" y="1552125"/>
            <a:ext cx="8839200" cy="1044748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65"/>
          <p:cNvSpPr txBox="1"/>
          <p:nvPr/>
        </p:nvSpPr>
        <p:spPr>
          <a:xfrm>
            <a:off x="1450175" y="2596875"/>
            <a:ext cx="1451100" cy="3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Nur Gutdaten werden für das Training genutzt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390" name="Google Shape;390;p65"/>
          <p:cNvSpPr txBox="1"/>
          <p:nvPr/>
        </p:nvSpPr>
        <p:spPr>
          <a:xfrm>
            <a:off x="3205752" y="2596875"/>
            <a:ext cx="1277100" cy="3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Meta-Features der Daten wird extrahiert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1" name="Google Shape;391;p65"/>
          <p:cNvSpPr txBox="1"/>
          <p:nvPr/>
        </p:nvSpPr>
        <p:spPr>
          <a:xfrm>
            <a:off x="4724250" y="2596875"/>
            <a:ext cx="1451100" cy="3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Bestes Modell mit Hyperparameter wird ausgewählt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392" name="Google Shape;392;p65"/>
          <p:cNvSpPr txBox="1"/>
          <p:nvPr/>
        </p:nvSpPr>
        <p:spPr>
          <a:xfrm>
            <a:off x="6398975" y="2596875"/>
            <a:ext cx="1104000" cy="3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Modell wird trainiert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393" name="Google Shape;393;p65"/>
          <p:cNvSpPr txBox="1"/>
          <p:nvPr/>
        </p:nvSpPr>
        <p:spPr>
          <a:xfrm>
            <a:off x="7813875" y="2596875"/>
            <a:ext cx="1330200" cy="3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Zum Vergleich der Vorgehen werden Testdaten evaluiert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66"/>
          <p:cNvSpPr txBox="1"/>
          <p:nvPr>
            <p:ph type="title"/>
          </p:nvPr>
        </p:nvSpPr>
        <p:spPr>
          <a:xfrm>
            <a:off x="715100" y="535000"/>
            <a:ext cx="77139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de"/>
              <a:t>Kurzer Überblick Ergebnisse</a:t>
            </a:r>
            <a:endParaRPr/>
          </a:p>
        </p:txBody>
      </p:sp>
      <p:sp>
        <p:nvSpPr>
          <p:cNvPr id="399" name="Google Shape;399;p66"/>
          <p:cNvSpPr txBox="1"/>
          <p:nvPr/>
        </p:nvSpPr>
        <p:spPr>
          <a:xfrm>
            <a:off x="84500" y="1914398"/>
            <a:ext cx="3516600" cy="21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300">
                <a:latin typeface="Montserrat"/>
                <a:ea typeface="Montserrat"/>
                <a:cs typeface="Montserrat"/>
                <a:sym typeface="Montserrat"/>
              </a:rPr>
              <a:t>Ähnliche Meta-Features</a:t>
            </a: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 der Datensätze, das heißt Modellauswahl bei den meisten Datensätzen gleich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de" sz="1300"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de" sz="1300">
                <a:latin typeface="Montserrat"/>
                <a:ea typeface="Montserrat"/>
                <a:cs typeface="Montserrat"/>
                <a:sym typeface="Montserrat"/>
              </a:rPr>
              <a:t>ABOD (n_neighbors=10)</a:t>
            </a: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 wurde bei 3 von 4 Datensätzen gewählt</a:t>
            </a:r>
            <a:br>
              <a:rPr lang="de" sz="1300">
                <a:latin typeface="Montserrat"/>
                <a:ea typeface="Montserrat"/>
                <a:cs typeface="Montserrat"/>
                <a:sym typeface="Montserrat"/>
              </a:rPr>
            </a:b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Die Performance variiert je nach Modell, aber nur sehr gering je nach Datensatz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/>
              <a:buNone/>
            </a:pPr>
            <a:r>
              <a:t/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400" name="Google Shape;400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3500" y="1425700"/>
            <a:ext cx="5238100" cy="31248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67"/>
          <p:cNvSpPr txBox="1"/>
          <p:nvPr>
            <p:ph type="title"/>
          </p:nvPr>
        </p:nvSpPr>
        <p:spPr>
          <a:xfrm>
            <a:off x="715100" y="535000"/>
            <a:ext cx="77139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de"/>
              <a:t>Was ist ABOD</a:t>
            </a:r>
            <a:endParaRPr/>
          </a:p>
        </p:txBody>
      </p:sp>
      <p:pic>
        <p:nvPicPr>
          <p:cNvPr id="406" name="Google Shape;406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6500" y="1461100"/>
            <a:ext cx="6911101" cy="356540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67"/>
          <p:cNvSpPr txBox="1"/>
          <p:nvPr/>
        </p:nvSpPr>
        <p:spPr>
          <a:xfrm>
            <a:off x="3193800" y="1038399"/>
            <a:ext cx="27564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300">
                <a:latin typeface="Montserrat"/>
                <a:ea typeface="Montserrat"/>
                <a:cs typeface="Montserrat"/>
                <a:sym typeface="Montserrat"/>
              </a:rPr>
              <a:t>Angle-Based Outlier Detection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/>
              <a:buNone/>
            </a:pPr>
            <a:r>
              <a:t/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68"/>
          <p:cNvSpPr txBox="1"/>
          <p:nvPr>
            <p:ph type="title"/>
          </p:nvPr>
        </p:nvSpPr>
        <p:spPr>
          <a:xfrm>
            <a:off x="716400" y="2260050"/>
            <a:ext cx="7711200" cy="87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de" sz="4800"/>
              <a:t>Ergebnisse &amp; Conclusio</a:t>
            </a:r>
            <a:endParaRPr/>
          </a:p>
        </p:txBody>
      </p:sp>
      <p:sp>
        <p:nvSpPr>
          <p:cNvPr id="413" name="Google Shape;413;p68"/>
          <p:cNvSpPr txBox="1"/>
          <p:nvPr>
            <p:ph idx="2" type="title"/>
          </p:nvPr>
        </p:nvSpPr>
        <p:spPr>
          <a:xfrm>
            <a:off x="716400" y="1380450"/>
            <a:ext cx="7711200" cy="8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de"/>
              <a:t>06</a:t>
            </a:r>
            <a:endParaRPr/>
          </a:p>
        </p:txBody>
      </p:sp>
      <p:sp>
        <p:nvSpPr>
          <p:cNvPr id="414" name="Google Shape;414;p68"/>
          <p:cNvSpPr txBox="1"/>
          <p:nvPr>
            <p:ph idx="1" type="subTitle"/>
          </p:nvPr>
        </p:nvSpPr>
        <p:spPr>
          <a:xfrm>
            <a:off x="716400" y="3063450"/>
            <a:ext cx="7711200" cy="3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de"/>
              <a:t>Diagramme und Auswahl des besten Modells mit Erklärung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69"/>
          <p:cNvSpPr txBox="1"/>
          <p:nvPr>
            <p:ph type="title"/>
          </p:nvPr>
        </p:nvSpPr>
        <p:spPr>
          <a:xfrm>
            <a:off x="715100" y="535000"/>
            <a:ext cx="77139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de"/>
              <a:t>Kurzer Überblick Ergebnisse</a:t>
            </a:r>
            <a:endParaRPr/>
          </a:p>
        </p:txBody>
      </p:sp>
      <p:sp>
        <p:nvSpPr>
          <p:cNvPr id="420" name="Google Shape;420;p69"/>
          <p:cNvSpPr txBox="1"/>
          <p:nvPr/>
        </p:nvSpPr>
        <p:spPr>
          <a:xfrm>
            <a:off x="84500" y="1914398"/>
            <a:ext cx="3516600" cy="21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100">
                <a:latin typeface="Montserrat"/>
                <a:ea typeface="Montserrat"/>
                <a:cs typeface="Montserrat"/>
                <a:sym typeface="Montserrat"/>
              </a:rPr>
              <a:t>MetaOD erzielt mit deutlichem Abstand die beste Performance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100">
                <a:latin typeface="Montserrat"/>
                <a:ea typeface="Montserrat"/>
                <a:cs typeface="Montserrat"/>
                <a:sym typeface="Montserrat"/>
              </a:rPr>
              <a:t>AutoML erreicht die zweitbeste Leistung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100">
                <a:latin typeface="Montserrat"/>
                <a:ea typeface="Montserrat"/>
                <a:cs typeface="Montserrat"/>
                <a:sym typeface="Montserrat"/>
              </a:rPr>
              <a:t>TabPFN liegt dahinter, mit gleichem Ergebnis wie die Baseline 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100">
                <a:latin typeface="Montserrat"/>
                <a:ea typeface="Montserrat"/>
                <a:cs typeface="Montserrat"/>
                <a:sym typeface="Montserrat"/>
              </a:rPr>
              <a:t>Erklärung:</a:t>
            </a:r>
            <a:endParaRPr b="1"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100">
                <a:latin typeface="Montserrat"/>
                <a:ea typeface="Montserrat"/>
                <a:cs typeface="Montserrat"/>
                <a:sym typeface="Montserrat"/>
              </a:rPr>
              <a:t>MetaOD wurde speziell für die Anomalieerkennung entwickelt und ist daher optimal auf diese Problemstellung abgestimmt</a:t>
            </a:r>
            <a:endParaRPr b="1"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/>
              <a:buNone/>
            </a:pPr>
            <a:r>
              <a:t/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421" name="Google Shape;421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3500" y="1425700"/>
            <a:ext cx="4647315" cy="356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70"/>
          <p:cNvSpPr txBox="1"/>
          <p:nvPr>
            <p:ph type="title"/>
          </p:nvPr>
        </p:nvSpPr>
        <p:spPr>
          <a:xfrm>
            <a:off x="715100" y="535000"/>
            <a:ext cx="77139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de"/>
              <a:t>Fazit</a:t>
            </a:r>
            <a:endParaRPr/>
          </a:p>
        </p:txBody>
      </p:sp>
      <p:sp>
        <p:nvSpPr>
          <p:cNvPr id="427" name="Google Shape;427;p70"/>
          <p:cNvSpPr txBox="1"/>
          <p:nvPr/>
        </p:nvSpPr>
        <p:spPr>
          <a:xfrm>
            <a:off x="897600" y="1273300"/>
            <a:ext cx="73488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Char char="●"/>
            </a:pPr>
            <a:r>
              <a:rPr lang="de" sz="1100">
                <a:latin typeface="Montserrat"/>
                <a:ea typeface="Montserrat"/>
                <a:cs typeface="Montserrat"/>
                <a:sym typeface="Montserrat"/>
              </a:rPr>
              <a:t>Meta-Learning (MetaOD) liefert derzeit die besten Ergebnisse für die unsupervised Anomalieerkennung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Char char="●"/>
            </a:pPr>
            <a:r>
              <a:rPr lang="de" sz="1100">
                <a:latin typeface="Montserrat"/>
                <a:ea typeface="Montserrat"/>
                <a:cs typeface="Montserrat"/>
                <a:sym typeface="Montserrat"/>
              </a:rPr>
              <a:t>Für ein selbst trainiertes AutoML-Verfahren ist ein semi-unsupervised Setup erforderlich, um konkurrenzfähige Ergebnisse zu erzielen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Char char="●"/>
            </a:pPr>
            <a:r>
              <a:rPr lang="de" sz="1100">
                <a:latin typeface="Montserrat"/>
                <a:ea typeface="Montserrat"/>
                <a:cs typeface="Montserrat"/>
                <a:sym typeface="Montserrat"/>
              </a:rPr>
              <a:t>TabPFN erfüllt die aktuell gesetzten Erwartungen nicht und bleibt leistungstechnisch hinter den Versprechen zurück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Char char="●"/>
            </a:pPr>
            <a:r>
              <a:rPr lang="de" sz="1100">
                <a:latin typeface="Montserrat"/>
                <a:ea typeface="Montserrat"/>
                <a:cs typeface="Montserrat"/>
                <a:sym typeface="Montserrat"/>
              </a:rPr>
              <a:t>Hinsichtlich des Ressourcenaufwands zeigt sich ein deutlicher Unterschied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Char char="○"/>
            </a:pPr>
            <a:r>
              <a:rPr lang="de" sz="1100">
                <a:latin typeface="Montserrat"/>
                <a:ea typeface="Montserrat"/>
                <a:cs typeface="Montserrat"/>
                <a:sym typeface="Montserrat"/>
              </a:rPr>
              <a:t>MetaOD benötigt nur wenige Minuten pro Datensatz.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Char char="○"/>
            </a:pPr>
            <a:r>
              <a:rPr lang="de" sz="1100">
                <a:latin typeface="Montserrat"/>
                <a:ea typeface="Montserrat"/>
                <a:cs typeface="Montserrat"/>
                <a:sym typeface="Montserrat"/>
              </a:rPr>
              <a:t>Die Optuna-Optimierung läuft ca. 15 Minuten pro Datensatz und ist damit deutlich ineffizienter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Char char="●"/>
            </a:pPr>
            <a:r>
              <a:rPr lang="de" sz="1100">
                <a:latin typeface="Montserrat"/>
                <a:ea typeface="Montserrat"/>
                <a:cs typeface="Montserrat"/>
                <a:sym typeface="Montserrat"/>
              </a:rPr>
              <a:t>TabPFN ist zusätzlich ressourcenintensiv (GPU-Nutzung, Begrenzung auf 10.000 Datenpunkte) bei gleichzeitig unzureichender Performance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Char char="●"/>
            </a:pPr>
            <a:r>
              <a:rPr lang="de" sz="1100">
                <a:latin typeface="Montserrat"/>
                <a:ea typeface="Montserrat"/>
                <a:cs typeface="Montserrat"/>
                <a:sym typeface="Montserrat"/>
              </a:rPr>
              <a:t>Die Nutzung einer einzelnen Baseline (Training nur eines Modells) erweist sich ebenfalls als ineffizient, da kein signifikanter Mehrwert erzielt wird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100">
                <a:latin typeface="Montserrat"/>
                <a:ea typeface="Montserrat"/>
                <a:cs typeface="Montserrat"/>
                <a:sym typeface="Montserrat"/>
              </a:rPr>
              <a:t>Gesamtfazit</a:t>
            </a:r>
            <a:endParaRPr b="1"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100">
                <a:latin typeface="Montserrat"/>
                <a:ea typeface="Montserrat"/>
                <a:cs typeface="Montserrat"/>
                <a:sym typeface="Montserrat"/>
              </a:rPr>
              <a:t>Meta-Learning stellt aktuell die leistungsstärkste und zugleich effizienteste Methode für unsupervised Anomalieerkennung dar.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/>
              <a:buNone/>
            </a:pPr>
            <a:r>
              <a:t/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71"/>
          <p:cNvSpPr txBox="1"/>
          <p:nvPr/>
        </p:nvSpPr>
        <p:spPr>
          <a:xfrm>
            <a:off x="2426640" y="2082900"/>
            <a:ext cx="4290720" cy="97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pinnaker"/>
              <a:buNone/>
            </a:pPr>
            <a:r>
              <a:rPr b="1" i="0" lang="de" sz="3500" u="none" cap="none" strike="noStrike">
                <a:solidFill>
                  <a:schemeClr val="dk1"/>
                </a:solidFill>
                <a:latin typeface="Spinnaker"/>
                <a:ea typeface="Spinnaker"/>
                <a:cs typeface="Spinnaker"/>
                <a:sym typeface="Spinnaker"/>
              </a:rPr>
              <a:t>Vielen Dank für die Aufmerksamkeit</a:t>
            </a:r>
            <a:endParaRPr b="1" i="0" sz="3500" u="none" cap="none" strike="noStrike">
              <a:solidFill>
                <a:schemeClr val="dk1"/>
              </a:solidFill>
              <a:latin typeface="Spinnaker"/>
              <a:ea typeface="Spinnaker"/>
              <a:cs typeface="Spinnaker"/>
              <a:sym typeface="Spinnak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lum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inimalist Organic Shapes Basic Template by Slidesgo">
  <a:themeElements>
    <a:clrScheme name="Simple Light">
      <a:dk1>
        <a:srgbClr val="385CA8"/>
      </a:dk1>
      <a:lt1>
        <a:srgbClr val="1D315A"/>
      </a:lt1>
      <a:dk2>
        <a:srgbClr val="4BA9D7"/>
      </a:dk2>
      <a:lt2>
        <a:srgbClr val="B9DFFF"/>
      </a:lt2>
      <a:accent1>
        <a:srgbClr val="EEF8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315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